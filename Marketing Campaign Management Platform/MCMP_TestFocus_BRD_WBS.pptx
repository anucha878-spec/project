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507347C-B050-4897-92F9-4DD1EB0FAA3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85171E-69F6-4C92-BAB1-014AC7BA0FC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9F913C-6DB3-45D9-9C3B-3998AAEBB92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41A681-BA8A-40AA-8289-24D17774D0B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275252-1950-4DD5-9E70-971041F07D6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166CB7-3C0E-41C8-86A2-0BCD5B58953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01731C-D9D2-4AC2-B760-B2DE9EA8FD3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9719738-26C5-4881-9697-B86384737F0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457200" y="64465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b7b"/>
                </a:solidFill>
                <a:latin typeface="Tahoma"/>
                <a:ea typeface="Tahoma"/>
              </a:rPr>
              <a:t>MCMP · Business &amp; Cross-check · </a:t>
            </a:r>
            <a:r>
              <a:rPr b="0" lang="th-TH" sz="900" spc="-1" strike="noStrike">
                <a:solidFill>
                  <a:srgbClr val="5b6b7b"/>
                </a:solidFill>
                <a:latin typeface="Tahoma"/>
                <a:cs typeface="Tahoma"/>
              </a:rPr>
              <a:t>กลุ่มที่ต้องเน้นทดสอบ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1"/>
          <p:cNvSpPr/>
          <p:nvPr/>
        </p:nvSpPr>
        <p:spPr>
          <a:xfrm>
            <a:off x="0" y="4892040"/>
            <a:ext cx="12191400" cy="109440"/>
          </a:xfrm>
          <a:prstGeom prst="rect">
            <a:avLst/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822960" y="15087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99" strike="noStrike">
                <a:solidFill>
                  <a:srgbClr val="9ec6ee"/>
                </a:solidFill>
                <a:latin typeface="Tahoma"/>
                <a:ea typeface="Tahoma"/>
              </a:rPr>
              <a:t>PROJECT 20240278 · QA TEST FOCUS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822960" y="192024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Tahoma"/>
                <a:ea typeface="Tahoma"/>
              </a:rPr>
              <a:t>Business &amp; BRD ↔ WBS Cross-check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822960" y="32461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th-TH" sz="2400" spc="-1" strike="noStrike">
                <a:solidFill>
                  <a:srgbClr val="ffd6c9"/>
                </a:solidFill>
                <a:latin typeface="Tahoma"/>
                <a:cs typeface="Tahoma"/>
              </a:rPr>
              <a:t>กลุ่ม </a:t>
            </a:r>
            <a:r>
              <a:rPr b="1" lang="en-US" sz="2400" spc="-1" strike="noStrike">
                <a:solidFill>
                  <a:srgbClr val="ffd6c9"/>
                </a:solidFill>
                <a:latin typeface="Tahoma"/>
                <a:ea typeface="Tahoma"/>
              </a:rPr>
              <a:t>Critical / Major </a:t>
            </a:r>
            <a:r>
              <a:rPr b="1" lang="th-TH" sz="2400" spc="-1" strike="noStrike">
                <a:solidFill>
                  <a:srgbClr val="ffd6c9"/>
                </a:solidFill>
                <a:latin typeface="Tahoma"/>
                <a:cs typeface="Tahoma"/>
              </a:rPr>
              <a:t>ที่ต้องเน้นทดสอบ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822960" y="40233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fe1f2"/>
                </a:solidFill>
                <a:latin typeface="Tahoma"/>
                <a:ea typeface="Tahoma"/>
              </a:rPr>
              <a:t>Marketing Campaign Management Platform — </a:t>
            </a:r>
            <a:r>
              <a:rPr b="0" lang="th-TH" sz="1600" spc="-1" strike="noStrike">
                <a:solidFill>
                  <a:srgbClr val="cfe1f2"/>
                </a:solidFill>
                <a:latin typeface="Tahoma"/>
                <a:cs typeface="Tahoma"/>
              </a:rPr>
              <a:t>บมจ</a:t>
            </a:r>
            <a:r>
              <a:rPr b="0" lang="en-US" sz="1600" spc="-1" strike="noStrike">
                <a:solidFill>
                  <a:srgbClr val="cfe1f2"/>
                </a:solidFill>
                <a:latin typeface="Tahoma"/>
                <a:ea typeface="Tahoma"/>
              </a:rPr>
              <a:t>. </a:t>
            </a:r>
            <a:r>
              <a:rPr b="0" lang="th-TH" sz="1600" spc="-1" strike="noStrike">
                <a:solidFill>
                  <a:srgbClr val="cfe1f2"/>
                </a:solidFill>
                <a:latin typeface="Tahoma"/>
                <a:cs typeface="Tahoma"/>
              </a:rPr>
              <a:t>ไทยสมุทรประกันชีวิต </a:t>
            </a:r>
            <a:r>
              <a:rPr b="0" lang="en-US" sz="1600" spc="-1" strike="noStrike">
                <a:solidFill>
                  <a:srgbClr val="cfe1f2"/>
                </a:solidFill>
                <a:latin typeface="Tahoma"/>
                <a:ea typeface="Tahoma"/>
              </a:rPr>
              <a:t>(Ocean Life Insurance)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822960" y="525780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th-TH" sz="1300" spc="-1" strike="noStrike">
                <a:solidFill>
                  <a:srgbClr val="bcd4ec"/>
                </a:solidFill>
                <a:latin typeface="Tahoma"/>
                <a:cs typeface="Tahoma"/>
              </a:rPr>
              <a:t>อ้างอิง</a:t>
            </a:r>
            <a:r>
              <a:rPr b="0" lang="en-US" sz="1300" spc="-1" strike="noStrike">
                <a:solidFill>
                  <a:srgbClr val="bcd4ec"/>
                </a:solidFill>
                <a:latin typeface="Tahoma"/>
                <a:ea typeface="Tahoma"/>
              </a:rPr>
              <a:t>: BRD_Summary_Workflow.md  ·  MCMP_BRD_vs_WBS_Crosscheck.md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th-TH" sz="1300" spc="-1" strike="noStrike">
                <a:solidFill>
                  <a:srgbClr val="bcd4ec"/>
                </a:solidFill>
                <a:latin typeface="Tahoma"/>
                <a:cs typeface="Tahoma"/>
              </a:rPr>
              <a:t>เทียบ </a:t>
            </a:r>
            <a:r>
              <a:rPr b="0" lang="en-US" sz="1300" spc="-1" strike="noStrike">
                <a:solidFill>
                  <a:srgbClr val="bcd4ec"/>
                </a:solidFill>
                <a:latin typeface="Tahoma"/>
                <a:ea typeface="Tahoma"/>
              </a:rPr>
              <a:t>BRD v0.1 (42 </a:t>
            </a:r>
            <a:r>
              <a:rPr b="0" lang="th-TH" sz="1300" spc="-1" strike="noStrike">
                <a:solidFill>
                  <a:srgbClr val="bcd4ec"/>
                </a:solidFill>
                <a:latin typeface="Tahoma"/>
                <a:cs typeface="Tahoma"/>
              </a:rPr>
              <a:t>หน้า</a:t>
            </a:r>
            <a:r>
              <a:rPr b="0" lang="en-US" sz="1300" spc="-1" strike="noStrike">
                <a:solidFill>
                  <a:srgbClr val="bcd4ec"/>
                </a:solidFill>
                <a:latin typeface="Tahoma"/>
                <a:ea typeface="Tahoma"/>
              </a:rPr>
              <a:t>)  ↔  WBS / Development Effort v1.0 (5 </a:t>
            </a:r>
            <a:r>
              <a:rPr b="0" lang="th-TH" sz="1300" spc="-1" strike="noStrike">
                <a:solidFill>
                  <a:srgbClr val="bcd4ec"/>
                </a:solidFill>
                <a:latin typeface="Tahoma"/>
                <a:cs typeface="Tahoma"/>
              </a:rPr>
              <a:t>หน้า</a:t>
            </a:r>
            <a:r>
              <a:rPr b="0" lang="en-US" sz="1300" spc="-1" strike="noStrike">
                <a:solidFill>
                  <a:srgbClr val="bcd4ec"/>
                </a:solidFill>
                <a:latin typeface="Tahoma"/>
                <a:ea typeface="Tahoma"/>
              </a:rPr>
              <a:t>, In Progress)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411480" y="320040"/>
            <a:ext cx="11383920" cy="594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685800" y="41148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1565c0"/>
                </a:solidFill>
                <a:latin typeface="Tahoma"/>
                <a:ea typeface="Tahoma"/>
              </a:rPr>
              <a:t>BUSINESS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685800" y="713160"/>
            <a:ext cx="502560" cy="456840"/>
          </a:xfrm>
          <a:prstGeom prst="rect">
            <a:avLst/>
          </a:prstGeom>
          <a:solidFill>
            <a:srgbClr val="0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Tahoma"/>
                <a:ea typeface="Tahoma"/>
              </a:rPr>
              <a:t>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1325880" y="7131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MCMP 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ทำอะไร 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(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ภาพธุรกิจ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)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685800" y="13716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แพลตฟอร์มกลางของฝ่ายการตลาด — รวมข้อมูลลูกค้าจากหลายระบบให้เป็น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Single View →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สร้างกลุ่มเป้าหมาย → ยิงแคมเปญหลายช่องทาง → บริหาร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Lead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จนถึงมือตัวแทน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(LC)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5"/>
          <p:cNvSpPr/>
          <p:nvPr/>
        </p:nvSpPr>
        <p:spPr>
          <a:xfrm>
            <a:off x="685800" y="2194560"/>
            <a:ext cx="2011320" cy="141696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685800" y="233172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b2a4a"/>
                </a:solidFill>
                <a:latin typeface="Tahoma"/>
                <a:ea typeface="Tahoma"/>
              </a:rPr>
              <a:t>①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731520" y="2880360"/>
            <a:ext cx="1919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th-TH" sz="1150" spc="-1" strike="noStrike">
                <a:solidFill>
                  <a:srgbClr val="5b6b7b"/>
                </a:solidFill>
                <a:latin typeface="Tahoma"/>
                <a:cs typeface="Tahoma"/>
              </a:rPr>
              <a:t>รวมข้อมูล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Single 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2843640" y="2194560"/>
            <a:ext cx="2011320" cy="141696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2843640" y="233172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b2a4a"/>
                </a:solidFill>
                <a:latin typeface="Tahoma"/>
                <a:ea typeface="Tahoma"/>
              </a:rPr>
              <a:t>②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2889360" y="2880360"/>
            <a:ext cx="1919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th-TH" sz="1150" spc="-1" strike="noStrike">
                <a:solidFill>
                  <a:srgbClr val="5b6b7b"/>
                </a:solidFill>
                <a:latin typeface="Tahoma"/>
                <a:cs typeface="Tahoma"/>
              </a:rPr>
              <a:t>สร้าง </a:t>
            </a:r>
            <a:r>
              <a:rPr b="0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Segment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RFM / CLV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5001840" y="2194560"/>
            <a:ext cx="2011320" cy="141696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5001840" y="233172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b2a4a"/>
                </a:solidFill>
                <a:latin typeface="Tahoma"/>
                <a:ea typeface="Tahoma"/>
              </a:rPr>
              <a:t>③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5047560" y="2880360"/>
            <a:ext cx="1919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th-TH" sz="1150" spc="-1" strike="noStrike">
                <a:solidFill>
                  <a:srgbClr val="5b6b7b"/>
                </a:solidFill>
                <a:latin typeface="Tahoma"/>
                <a:cs typeface="Tahoma"/>
              </a:rPr>
              <a:t>ส่ง </a:t>
            </a:r>
            <a:r>
              <a:rPr b="0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Campaign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SMS/Email/LINE/App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4"/>
          <p:cNvSpPr/>
          <p:nvPr/>
        </p:nvSpPr>
        <p:spPr>
          <a:xfrm>
            <a:off x="7159680" y="2194560"/>
            <a:ext cx="2011320" cy="141696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5"/>
          <p:cNvSpPr/>
          <p:nvPr/>
        </p:nvSpPr>
        <p:spPr>
          <a:xfrm>
            <a:off x="7159680" y="233172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b2a4a"/>
                </a:solidFill>
                <a:latin typeface="Tahoma"/>
                <a:ea typeface="Tahoma"/>
              </a:rPr>
              <a:t>④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6"/>
          <p:cNvSpPr/>
          <p:nvPr/>
        </p:nvSpPr>
        <p:spPr>
          <a:xfrm>
            <a:off x="7205400" y="2880360"/>
            <a:ext cx="1919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Sync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FB / Google Ads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7"/>
          <p:cNvSpPr/>
          <p:nvPr/>
        </p:nvSpPr>
        <p:spPr>
          <a:xfrm>
            <a:off x="9317880" y="2194560"/>
            <a:ext cx="2011320" cy="141696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8"/>
          <p:cNvSpPr/>
          <p:nvPr/>
        </p:nvSpPr>
        <p:spPr>
          <a:xfrm>
            <a:off x="9317880" y="2331720"/>
            <a:ext cx="2011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b2a4a"/>
                </a:solidFill>
                <a:latin typeface="Tahoma"/>
                <a:ea typeface="Tahoma"/>
              </a:rPr>
              <a:t>⑤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9"/>
          <p:cNvSpPr/>
          <p:nvPr/>
        </p:nvSpPr>
        <p:spPr>
          <a:xfrm>
            <a:off x="9363600" y="2880360"/>
            <a:ext cx="1919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th-TH" sz="1150" spc="-1" strike="noStrike">
                <a:solidFill>
                  <a:srgbClr val="5b6b7b"/>
                </a:solidFill>
                <a:latin typeface="Tahoma"/>
                <a:cs typeface="Tahoma"/>
              </a:rPr>
              <a:t>บริหาร </a:t>
            </a:r>
            <a:r>
              <a:rPr b="0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Lead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LC · SLA 24 </a:t>
            </a:r>
            <a:r>
              <a:rPr b="0" lang="th-TH" sz="1150" spc="-1" strike="noStrike">
                <a:solidFill>
                  <a:srgbClr val="5b6b7b"/>
                </a:solidFill>
                <a:latin typeface="Tahoma"/>
                <a:cs typeface="Tahoma"/>
              </a:rPr>
              <a:t>ชม</a:t>
            </a:r>
            <a:r>
              <a:rPr b="0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1" name="Table 0"/>
          <p:cNvGraphicFramePr/>
          <p:nvPr/>
        </p:nvGraphicFramePr>
        <p:xfrm>
          <a:off x="685800" y="3886200"/>
          <a:ext cx="10789560" cy="2267280"/>
        </p:xfrm>
        <a:graphic>
          <a:graphicData uri="http://schemas.openxmlformats.org/drawingml/2006/table">
            <a:tbl>
              <a:tblPr/>
              <a:tblGrid>
                <a:gridCol w="3108960"/>
                <a:gridCol w="7680960"/>
              </a:tblGrid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Process </a:t>
                      </a:r>
                      <a:r>
                        <a:rPr b="1" lang="th-TH" sz="120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หลัก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h-TH" sz="120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สาระสำคัญ </a:t>
                      </a: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(Business)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01 Data Ingestion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ดึง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/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อัปเดตข้อมูล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Daily 23:00 + Realtime · Update-Insert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ไม่ซ้ำ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· Automail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แจ้งผล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02 Campaign Setting &amp; Send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สร้าง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Segment → Campaign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หลายช่องทาง →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Maker/Checker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อนุมัติ → ส่ง → เก็บผล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03 Lead Management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รับ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Lead → Auto/Manual Assign → LC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ติดต่อใน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SLA 24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ชม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. →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บันทึกผล → รายงาน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411480" y="320040"/>
            <a:ext cx="11383920" cy="594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685800" y="41148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1565c0"/>
                </a:solidFill>
                <a:latin typeface="Tahoma"/>
                <a:ea typeface="Tahoma"/>
              </a:rPr>
              <a:t>CROSS-CHECK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685800" y="713160"/>
            <a:ext cx="502560" cy="456840"/>
          </a:xfrm>
          <a:prstGeom prst="rect">
            <a:avLst/>
          </a:prstGeom>
          <a:solidFill>
            <a:srgbClr val="0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Tahoma"/>
                <a:ea typeface="Tahoma"/>
              </a:rPr>
              <a:t>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1325880" y="7131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วิธีเทียบ 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&amp; 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ผลรวม 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BRD ↔ WBS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685800" y="137160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2330"/>
                </a:solidFill>
                <a:latin typeface="Tahoma"/>
                <a:ea typeface="Tahoma"/>
              </a:rPr>
              <a:t>WBS v1.0 </a:t>
            </a:r>
            <a:r>
              <a:rPr b="0" lang="th-TH" sz="1400" spc="-1" strike="noStrike">
                <a:solidFill>
                  <a:srgbClr val="1a2330"/>
                </a:solidFill>
                <a:latin typeface="Tahoma"/>
                <a:cs typeface="Tahoma"/>
              </a:rPr>
              <a:t>คือเอกสาร </a:t>
            </a:r>
            <a:r>
              <a:rPr b="1" lang="en-US" sz="1400" spc="-1" strike="noStrike">
                <a:solidFill>
                  <a:srgbClr val="1a2330"/>
                </a:solidFill>
                <a:latin typeface="Tahoma"/>
                <a:ea typeface="Tahoma"/>
              </a:rPr>
              <a:t>Development Effort / </a:t>
            </a:r>
            <a:r>
              <a:rPr b="1" lang="th-TH" sz="1400" spc="-1" strike="noStrike">
                <a:solidFill>
                  <a:srgbClr val="1a2330"/>
                </a:solidFill>
                <a:latin typeface="Tahoma"/>
                <a:cs typeface="Tahoma"/>
              </a:rPr>
              <a:t>แตกงาน </a:t>
            </a:r>
            <a:r>
              <a:rPr b="1" lang="en-US" sz="1400" spc="-1" strike="noStrike">
                <a:solidFill>
                  <a:srgbClr val="1a2330"/>
                </a:solidFill>
                <a:latin typeface="Tahoma"/>
                <a:ea typeface="Tahoma"/>
              </a:rPr>
              <a:t>(</a:t>
            </a:r>
            <a:r>
              <a:rPr b="1" lang="th-TH" sz="1400" spc="-1" strike="noStrike">
                <a:solidFill>
                  <a:srgbClr val="1a2330"/>
                </a:solidFill>
                <a:latin typeface="Tahoma"/>
                <a:cs typeface="Tahoma"/>
              </a:rPr>
              <a:t>ไม่ใช่ตัว </a:t>
            </a:r>
            <a:r>
              <a:rPr b="1" lang="en-US" sz="1400" spc="-1" strike="noStrike">
                <a:solidFill>
                  <a:srgbClr val="1a2330"/>
                </a:solidFill>
                <a:latin typeface="Tahoma"/>
                <a:ea typeface="Tahoma"/>
              </a:rPr>
              <a:t>BRD)</a:t>
            </a:r>
            <a:r>
              <a:rPr b="0" lang="en-US" sz="1400" spc="-1" strike="noStrike">
                <a:solidFill>
                  <a:srgbClr val="1a2330"/>
                </a:solidFill>
                <a:latin typeface="Tahoma"/>
                <a:ea typeface="Tahoma"/>
              </a:rPr>
              <a:t> — </a:t>
            </a:r>
            <a:r>
              <a:rPr b="0" lang="th-TH" sz="1400" spc="-1" strike="noStrike">
                <a:solidFill>
                  <a:srgbClr val="1a2330"/>
                </a:solidFill>
                <a:latin typeface="Tahoma"/>
                <a:cs typeface="Tahoma"/>
              </a:rPr>
              <a:t>เทียบเพื่อตรวจว่า ทุก </a:t>
            </a:r>
            <a:r>
              <a:rPr b="0" lang="en-US" sz="1400" spc="-1" strike="noStrike">
                <a:solidFill>
                  <a:srgbClr val="1a2330"/>
                </a:solidFill>
                <a:latin typeface="Tahoma"/>
                <a:ea typeface="Tahoma"/>
              </a:rPr>
              <a:t>requirement </a:t>
            </a:r>
            <a:r>
              <a:rPr b="0" lang="th-TH" sz="1400" spc="-1" strike="noStrike">
                <a:solidFill>
                  <a:srgbClr val="1a2330"/>
                </a:solidFill>
                <a:latin typeface="Tahoma"/>
                <a:cs typeface="Tahoma"/>
              </a:rPr>
              <a:t>ใน </a:t>
            </a:r>
            <a:r>
              <a:rPr b="0" lang="en-US" sz="1400" spc="-1" strike="noStrike">
                <a:solidFill>
                  <a:srgbClr val="1a2330"/>
                </a:solidFill>
                <a:latin typeface="Tahoma"/>
                <a:ea typeface="Tahoma"/>
              </a:rPr>
              <a:t>BRD </a:t>
            </a:r>
            <a:r>
              <a:rPr b="0" lang="th-TH" sz="1400" spc="-1" strike="noStrike">
                <a:solidFill>
                  <a:srgbClr val="1a2330"/>
                </a:solidFill>
                <a:latin typeface="Tahoma"/>
                <a:cs typeface="Tahoma"/>
              </a:rPr>
              <a:t>ถูกแปลงเป็น </a:t>
            </a:r>
            <a:r>
              <a:rPr b="0" lang="en-US" sz="1400" spc="-1" strike="noStrike">
                <a:solidFill>
                  <a:srgbClr val="1a2330"/>
                </a:solidFill>
                <a:latin typeface="Tahoma"/>
                <a:ea typeface="Tahoma"/>
              </a:rPr>
              <a:t>Dev Task </a:t>
            </a:r>
            <a:r>
              <a:rPr b="0" lang="th-TH" sz="1400" spc="-1" strike="noStrike">
                <a:solidFill>
                  <a:srgbClr val="1a2330"/>
                </a:solidFill>
                <a:latin typeface="Tahoma"/>
                <a:cs typeface="Tahoma"/>
              </a:rPr>
              <a:t>ครบหรือไม่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5"/>
          <p:cNvSpPr/>
          <p:nvPr/>
        </p:nvSpPr>
        <p:spPr>
          <a:xfrm>
            <a:off x="685800" y="2057400"/>
            <a:ext cx="3428640" cy="1325520"/>
          </a:xfrm>
          <a:prstGeom prst="rect">
            <a:avLst/>
          </a:prstGeom>
          <a:solidFill>
            <a:srgbClr val="f6f9fc"/>
          </a:solidFill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685800" y="2176200"/>
            <a:ext cx="3428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2e7d32"/>
                </a:solidFill>
                <a:latin typeface="Tahoma"/>
                <a:ea typeface="Tahoma"/>
              </a:rPr>
              <a:t>✅ </a:t>
            </a:r>
            <a:r>
              <a:rPr b="1" lang="en-US" sz="2800" spc="-1" strike="noStrike">
                <a:solidFill>
                  <a:srgbClr val="2e7d32"/>
                </a:solidFill>
                <a:latin typeface="Tahoma"/>
                <a:ea typeface="Tahoma"/>
              </a:rPr>
              <a:t>~38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685800" y="2724840"/>
            <a:ext cx="3428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ครอบคลุมชัดเจน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685800" y="303588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th-TH" sz="1100" spc="-1" strike="noStrike">
                <a:solidFill>
                  <a:srgbClr val="5b6b7b"/>
                </a:solidFill>
                <a:latin typeface="Tahoma"/>
                <a:cs typeface="Tahoma"/>
              </a:rPr>
              <a:t>โครงสร้างหลักครบดี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4316040" y="2057400"/>
            <a:ext cx="3428640" cy="1325520"/>
          </a:xfrm>
          <a:prstGeom prst="rect">
            <a:avLst/>
          </a:prstGeom>
          <a:solidFill>
            <a:srgbClr val="f6f9fc"/>
          </a:solidFill>
          <a:ln w="1905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4316040" y="2176200"/>
            <a:ext cx="3428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7c00"/>
                </a:solidFill>
                <a:latin typeface="Tahoma"/>
                <a:ea typeface="Tahoma"/>
              </a:rPr>
              <a:t>⚠️ </a:t>
            </a:r>
            <a:r>
              <a:rPr b="1" lang="en-US" sz="2800" spc="-1" strike="noStrike">
                <a:solidFill>
                  <a:srgbClr val="f57c00"/>
                </a:solidFill>
                <a:latin typeface="Tahoma"/>
                <a:ea typeface="Tahoma"/>
              </a:rPr>
              <a:t>~12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4316040" y="2724840"/>
            <a:ext cx="3428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มีบางส่วน </a:t>
            </a:r>
            <a:r>
              <a:rPr b="1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/ </a:t>
            </a:r>
            <a:r>
              <a:rPr b="1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ไม่ชัด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4316040" y="303588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th-TH" sz="1100" spc="-1" strike="noStrike">
                <a:solidFill>
                  <a:srgbClr val="5b6b7b"/>
                </a:solidFill>
                <a:latin typeface="Tahoma"/>
                <a:cs typeface="Tahoma"/>
              </a:rPr>
              <a:t>ต้องยืนยันกับ </a:t>
            </a:r>
            <a:r>
              <a:rPr b="0" lang="en-US" sz="1100" spc="-1" strike="noStrike">
                <a:solidFill>
                  <a:srgbClr val="5b6b7b"/>
                </a:solidFill>
                <a:latin typeface="Tahoma"/>
                <a:ea typeface="Tahoma"/>
              </a:rPr>
              <a:t>BA/SA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3"/>
          <p:cNvSpPr/>
          <p:nvPr/>
        </p:nvSpPr>
        <p:spPr>
          <a:xfrm>
            <a:off x="7946280" y="2057400"/>
            <a:ext cx="3428640" cy="1325520"/>
          </a:xfrm>
          <a:prstGeom prst="rect">
            <a:avLst/>
          </a:prstGeom>
          <a:solidFill>
            <a:srgbClr val="f6f9fc"/>
          </a:solidFill>
          <a:ln w="1905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7946280" y="2176200"/>
            <a:ext cx="3428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c62828"/>
                </a:solidFill>
                <a:latin typeface="Tahoma"/>
                <a:ea typeface="Tahoma"/>
              </a:rPr>
              <a:t>❌ </a:t>
            </a:r>
            <a:r>
              <a:rPr b="1" lang="en-US" sz="2800" spc="-1" strike="noStrike">
                <a:solidFill>
                  <a:srgbClr val="c62828"/>
                </a:solidFill>
                <a:latin typeface="Tahoma"/>
                <a:ea typeface="Tahoma"/>
              </a:rPr>
              <a:t>~8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5"/>
          <p:cNvSpPr/>
          <p:nvPr/>
        </p:nvSpPr>
        <p:spPr>
          <a:xfrm>
            <a:off x="7946280" y="2724840"/>
            <a:ext cx="3428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ไม่พบ </a:t>
            </a:r>
            <a:r>
              <a:rPr b="1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task </a:t>
            </a:r>
            <a:r>
              <a:rPr b="1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ชัด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7946280" y="303588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th-TH" sz="1100" spc="-1" strike="noStrike">
                <a:solidFill>
                  <a:srgbClr val="5b6b7b"/>
                </a:solidFill>
                <a:latin typeface="Tahoma"/>
                <a:cs typeface="Tahoma"/>
              </a:rPr>
              <a:t>เสี่ยงตกหล่นจริง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7"/>
          <p:cNvSpPr/>
          <p:nvPr/>
        </p:nvSpPr>
        <p:spPr>
          <a:xfrm>
            <a:off x="685800" y="3657600"/>
            <a:ext cx="10789560" cy="639720"/>
          </a:xfrm>
          <a:prstGeom prst="rect">
            <a:avLst/>
          </a:prstGeom>
          <a:solidFill>
            <a:srgbClr val="e8f0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8"/>
          <p:cNvSpPr/>
          <p:nvPr/>
        </p:nvSpPr>
        <p:spPr>
          <a:xfrm>
            <a:off x="685800" y="3657600"/>
            <a:ext cx="72720" cy="6397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9"/>
          <p:cNvSpPr/>
          <p:nvPr/>
        </p:nvSpPr>
        <p:spPr>
          <a:xfrm>
            <a:off x="896040" y="36576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รวม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19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จุดที่เป็น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Gap →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จัดกลุ่มความเสี่ยงเป็น  🔴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Critical 5  ·  🟠 Major 7  ·  🟡 Minor 7  (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ดูสไลด์ถัดไป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20"/>
          <p:cNvSpPr/>
          <p:nvPr/>
        </p:nvSpPr>
        <p:spPr>
          <a:xfrm>
            <a:off x="685800" y="4434840"/>
            <a:ext cx="10789560" cy="639720"/>
          </a:xfrm>
          <a:prstGeom prst="rect">
            <a:avLst/>
          </a:prstGeom>
          <a:solidFill>
            <a:srgbClr val="fff8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21"/>
          <p:cNvSpPr/>
          <p:nvPr/>
        </p:nvSpPr>
        <p:spPr>
          <a:xfrm>
            <a:off x="685800" y="4434840"/>
            <a:ext cx="72720" cy="639720"/>
          </a:xfrm>
          <a:prstGeom prst="rect">
            <a:avLst/>
          </a:prstGeom>
          <a:solidFill>
            <a:srgbClr val="f57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896040" y="44348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ทำไม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gap =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เป้าทดสอบสำคัญ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?  requirement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มีใน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BRD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แต่ไม่ชัดใน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WBS →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เสี่ยง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2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ชั้น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(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อาจไม่ถูกสร้าง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+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อาจไม่ถูกเทสต์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)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จึงต้องตั้งใจตรวจ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3"/>
          <p:cNvSpPr/>
          <p:nvPr/>
        </p:nvSpPr>
        <p:spPr>
          <a:xfrm>
            <a:off x="685800" y="52578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th-TH" sz="1150" spc="-1" strike="noStrike">
                <a:solidFill>
                  <a:srgbClr val="5b6b7b"/>
                </a:solidFill>
                <a:latin typeface="Tahoma"/>
                <a:cs typeface="Tahoma"/>
              </a:rPr>
              <a:t>หมายเหตุ</a:t>
            </a:r>
            <a:r>
              <a:rPr b="0" i="1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: WBS </a:t>
            </a:r>
            <a:r>
              <a:rPr b="0" i="1" lang="th-TH" sz="1150" spc="-1" strike="noStrike">
                <a:solidFill>
                  <a:srgbClr val="5b6b7b"/>
                </a:solidFill>
                <a:latin typeface="Tahoma"/>
                <a:cs typeface="Tahoma"/>
              </a:rPr>
              <a:t>ยังเป็น </a:t>
            </a:r>
            <a:r>
              <a:rPr b="0" i="1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"In Progress" — </a:t>
            </a:r>
            <a:r>
              <a:rPr b="0" i="1" lang="th-TH" sz="1150" spc="-1" strike="noStrike">
                <a:solidFill>
                  <a:srgbClr val="5b6b7b"/>
                </a:solidFill>
                <a:latin typeface="Tahoma"/>
                <a:cs typeface="Tahoma"/>
              </a:rPr>
              <a:t>บาง </a:t>
            </a:r>
            <a:r>
              <a:rPr b="0" i="1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task </a:t>
            </a:r>
            <a:r>
              <a:rPr b="0" i="1" lang="th-TH" sz="1150" spc="-1" strike="noStrike">
                <a:solidFill>
                  <a:srgbClr val="5b6b7b"/>
                </a:solidFill>
                <a:latin typeface="Tahoma"/>
                <a:cs typeface="Tahoma"/>
              </a:rPr>
              <a:t>อาจซ่อนในงานก้อนใหญ่ ควรใช้ตาราง </a:t>
            </a:r>
            <a:r>
              <a:rPr b="0" i="1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cross-check </a:t>
            </a:r>
            <a:r>
              <a:rPr b="0" i="1" lang="th-TH" sz="1150" spc="-1" strike="noStrike">
                <a:solidFill>
                  <a:srgbClr val="5b6b7b"/>
                </a:solidFill>
                <a:latin typeface="Tahoma"/>
                <a:cs typeface="Tahoma"/>
              </a:rPr>
              <a:t>เป็น </a:t>
            </a:r>
            <a:r>
              <a:rPr b="0" i="1" lang="en-US" sz="1150" spc="-1" strike="noStrike">
                <a:solidFill>
                  <a:srgbClr val="5b6b7b"/>
                </a:solidFill>
                <a:latin typeface="Tahoma"/>
                <a:ea typeface="Tahoma"/>
              </a:rPr>
              <a:t>checklist tick </a:t>
            </a:r>
            <a:r>
              <a:rPr b="0" i="1" lang="th-TH" sz="1150" spc="-1" strike="noStrike">
                <a:solidFill>
                  <a:srgbClr val="5b6b7b"/>
                </a:solidFill>
                <a:latin typeface="Tahoma"/>
                <a:cs typeface="Tahoma"/>
              </a:rPr>
              <a:t>ยืนยันทีละข้อ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411480" y="320040"/>
            <a:ext cx="11383920" cy="594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685800" y="41148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c62828"/>
                </a:solidFill>
                <a:latin typeface="Tahoma"/>
                <a:ea typeface="Tahoma"/>
              </a:rPr>
              <a:t>PRIORITY MAP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685800" y="713160"/>
            <a:ext cx="502560" cy="456840"/>
          </a:xfrm>
          <a:prstGeom prst="rect">
            <a:avLst/>
          </a:prstGeom>
          <a:solidFill>
            <a:srgbClr val="0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Tahoma"/>
                <a:ea typeface="Tahoma"/>
              </a:rPr>
              <a:t>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1325880" y="7131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จัดระดับความสำคัญของ 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Gap → 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เป้าทดสอบ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0" name="Table 0"/>
          <p:cNvGraphicFramePr/>
          <p:nvPr/>
        </p:nvGraphicFramePr>
        <p:xfrm>
          <a:off x="685800" y="1508760"/>
          <a:ext cx="10789560" cy="285264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5120640"/>
                <a:gridCol w="2926080"/>
              </a:tblGrid>
              <a:tr h="7131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h-TH" sz="120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ระดับ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h-TH" sz="120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จำนวน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h-TH" sz="120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นิยาม </a:t>
                      </a: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/ </a:t>
                      </a:r>
                      <a:r>
                        <a:rPr b="1" lang="th-TH" sz="120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เกณฑ์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h-TH" sz="120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ท่าทีการทดสอบ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</a:tr>
              <a:tr h="7131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🔴 </a:t>
                      </a:r>
                      <a:r>
                        <a:rPr b="1" lang="en-US" sz="120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Critical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Compliance / PDPA / Business rule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หลัก — ผิดแล้วกระทบกฎหมายหรือ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core operation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ต้องเทสต์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+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ยืนยันก่อน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Dev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เริ่ม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7131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57c00"/>
                          </a:solidFill>
                          <a:latin typeface="Tahoma"/>
                          <a:ea typeface="Tahoma"/>
                        </a:rPr>
                        <a:t>🟠 </a:t>
                      </a:r>
                      <a:r>
                        <a:rPr b="1" lang="en-US" sz="1200" spc="-1" strike="noStrike">
                          <a:solidFill>
                            <a:srgbClr val="f57c00"/>
                          </a:solidFill>
                          <a:latin typeface="Tahoma"/>
                          <a:ea typeface="Tahoma"/>
                        </a:rPr>
                        <a:t>Major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Feature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ที่ระบุใน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BRD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แต่ไม่พบใน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WBS —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กระทบการใช้งาน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/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รายงานจริง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เทสต์เต็ม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+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ขอ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confirm scope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7131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c9a100"/>
                          </a:solidFill>
                          <a:latin typeface="Tahoma"/>
                          <a:ea typeface="Tahoma"/>
                        </a:rPr>
                        <a:t>🟡 </a:t>
                      </a:r>
                      <a:r>
                        <a:rPr b="1" lang="en-US" sz="1200" spc="-1" strike="noStrike">
                          <a:solidFill>
                            <a:srgbClr val="c9a100"/>
                          </a:solidFill>
                          <a:latin typeface="Tahoma"/>
                          <a:ea typeface="Tahoma"/>
                        </a:rPr>
                        <a:t>Minor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รายละเอียด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/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เงื่อนไข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/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เวลา ที่ควรระบุให้ชัด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ตรวจเชิงยืนยัน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(spot-check)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1" name="Shape 4"/>
          <p:cNvSpPr/>
          <p:nvPr/>
        </p:nvSpPr>
        <p:spPr>
          <a:xfrm>
            <a:off x="685800" y="4434840"/>
            <a:ext cx="10789560" cy="639720"/>
          </a:xfrm>
          <a:prstGeom prst="rect">
            <a:avLst/>
          </a:prstGeom>
          <a:solidFill>
            <a:srgbClr val="fdec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5"/>
          <p:cNvSpPr/>
          <p:nvPr/>
        </p:nvSpPr>
        <p:spPr>
          <a:xfrm>
            <a:off x="685800" y="4434840"/>
            <a:ext cx="72720" cy="639720"/>
          </a:xfrm>
          <a:prstGeom prst="rect">
            <a:avLst/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896040" y="44348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โฟกัสของ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deck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นี้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= 🔴 Critical (5) + 🟠 Major (7)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รวม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12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จุด ที่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QA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ต้องเน้นทดสอบเป็นพิเศษ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7"/>
          <p:cNvSpPr/>
          <p:nvPr/>
        </p:nvSpPr>
        <p:spPr>
          <a:xfrm>
            <a:off x="685800" y="5257800"/>
            <a:ext cx="3428640" cy="68544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777240" y="5257800"/>
            <a:ext cx="3245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62828"/>
                </a:solidFill>
                <a:latin typeface="Tahoma"/>
                <a:ea typeface="Tahoma"/>
              </a:rPr>
              <a:t>1  </a:t>
            </a:r>
            <a:r>
              <a:rPr b="0" lang="en-US" sz="1100" spc="-1" strike="noStrike">
                <a:solidFill>
                  <a:srgbClr val="5b6b7b"/>
                </a:solidFill>
                <a:latin typeface="Tahoma"/>
                <a:ea typeface="Tahoma"/>
              </a:rPr>
              <a:t>gap (Critical+Major) — Process 01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4316040" y="5257800"/>
            <a:ext cx="3428640" cy="68544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4407480" y="5257800"/>
            <a:ext cx="3245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62828"/>
                </a:solidFill>
                <a:latin typeface="Tahoma"/>
                <a:ea typeface="Tahoma"/>
              </a:rPr>
              <a:t>6  </a:t>
            </a:r>
            <a:r>
              <a:rPr b="0" lang="en-US" sz="1100" spc="-1" strike="noStrike">
                <a:solidFill>
                  <a:srgbClr val="5b6b7b"/>
                </a:solidFill>
                <a:latin typeface="Tahoma"/>
                <a:ea typeface="Tahoma"/>
              </a:rPr>
              <a:t>gap (Critical+Major) — Process 02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7946280" y="5257800"/>
            <a:ext cx="3428640" cy="68544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2"/>
          <p:cNvSpPr/>
          <p:nvPr/>
        </p:nvSpPr>
        <p:spPr>
          <a:xfrm>
            <a:off x="8037720" y="5257800"/>
            <a:ext cx="3245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62828"/>
                </a:solidFill>
                <a:latin typeface="Tahoma"/>
                <a:ea typeface="Tahoma"/>
              </a:rPr>
              <a:t>5  </a:t>
            </a:r>
            <a:r>
              <a:rPr b="0" lang="en-US" sz="1100" spc="-1" strike="noStrike">
                <a:solidFill>
                  <a:srgbClr val="5b6b7b"/>
                </a:solidFill>
                <a:latin typeface="Tahoma"/>
                <a:ea typeface="Tahoma"/>
              </a:rPr>
              <a:t>gap (Critical+Major) — Process 03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411480" y="320040"/>
            <a:ext cx="11383920" cy="594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685800" y="41148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c62828"/>
                </a:solidFill>
                <a:latin typeface="Tahoma"/>
                <a:ea typeface="Tahoma"/>
              </a:rPr>
              <a:t>🔴 </a:t>
            </a:r>
            <a:r>
              <a:rPr b="1" lang="en-US" sz="1100" spc="199" strike="noStrike">
                <a:solidFill>
                  <a:srgbClr val="c62828"/>
                </a:solidFill>
                <a:latin typeface="Tahoma"/>
                <a:ea typeface="Tahoma"/>
              </a:rPr>
              <a:t>CRITICAL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685800" y="713160"/>
            <a:ext cx="502560" cy="456840"/>
          </a:xfrm>
          <a:prstGeom prst="rect">
            <a:avLst/>
          </a:prstGeom>
          <a:solidFill>
            <a:srgbClr val="0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Tahoma"/>
                <a:ea typeface="Tahoma"/>
              </a:rPr>
              <a:t>4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1325880" y="7131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กลุ่ม 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Critical — 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ต้องปิด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/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ต้องเทสต์ก่อน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685800" y="137160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h-TH" sz="1300" spc="-1" strike="noStrike">
                <a:solidFill>
                  <a:srgbClr val="5b6b7b"/>
                </a:solidFill>
                <a:latin typeface="Tahoma"/>
                <a:cs typeface="Tahoma"/>
              </a:rPr>
              <a:t>อยู่ใน </a:t>
            </a:r>
            <a:r>
              <a:rPr b="0" lang="en-US" sz="1300" spc="-1" strike="noStrike">
                <a:solidFill>
                  <a:srgbClr val="5b6b7b"/>
                </a:solidFill>
                <a:latin typeface="Tahoma"/>
                <a:ea typeface="Tahoma"/>
              </a:rPr>
              <a:t>BRD </a:t>
            </a:r>
            <a:r>
              <a:rPr b="0" lang="th-TH" sz="1300" spc="-1" strike="noStrike">
                <a:solidFill>
                  <a:srgbClr val="5b6b7b"/>
                </a:solidFill>
                <a:latin typeface="Tahoma"/>
                <a:cs typeface="Tahoma"/>
              </a:rPr>
              <a:t>แต่ไม่พบ </a:t>
            </a:r>
            <a:r>
              <a:rPr b="0" lang="en-US" sz="1300" spc="-1" strike="noStrike">
                <a:solidFill>
                  <a:srgbClr val="5b6b7b"/>
                </a:solidFill>
                <a:latin typeface="Tahoma"/>
                <a:ea typeface="Tahoma"/>
              </a:rPr>
              <a:t>task </a:t>
            </a:r>
            <a:r>
              <a:rPr b="0" lang="th-TH" sz="1300" spc="-1" strike="noStrike">
                <a:solidFill>
                  <a:srgbClr val="5b6b7b"/>
                </a:solidFill>
                <a:latin typeface="Tahoma"/>
                <a:cs typeface="Tahoma"/>
              </a:rPr>
              <a:t>ชัดใน </a:t>
            </a:r>
            <a:r>
              <a:rPr b="0" lang="en-US" sz="1300" spc="-1" strike="noStrike">
                <a:solidFill>
                  <a:srgbClr val="5b6b7b"/>
                </a:solidFill>
                <a:latin typeface="Tahoma"/>
                <a:ea typeface="Tahoma"/>
              </a:rPr>
              <a:t>WBS v1.0 — </a:t>
            </a:r>
            <a:r>
              <a:rPr b="0" lang="th-TH" sz="1300" spc="-1" strike="noStrike">
                <a:solidFill>
                  <a:srgbClr val="5b6b7b"/>
                </a:solidFill>
                <a:latin typeface="Tahoma"/>
                <a:cs typeface="Tahoma"/>
              </a:rPr>
              <a:t>เป็น </a:t>
            </a:r>
            <a:r>
              <a:rPr b="0" lang="en-US" sz="1300" spc="-1" strike="noStrike">
                <a:solidFill>
                  <a:srgbClr val="5b6b7b"/>
                </a:solidFill>
                <a:latin typeface="Tahoma"/>
                <a:ea typeface="Tahoma"/>
              </a:rPr>
              <a:t>core business rule / compliance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5" name="Table 0"/>
          <p:cNvGraphicFramePr/>
          <p:nvPr/>
        </p:nvGraphicFramePr>
        <p:xfrm>
          <a:off x="685800" y="1783080"/>
          <a:ext cx="10789560" cy="3401280"/>
        </p:xfrm>
        <a:graphic>
          <a:graphicData uri="http://schemas.openxmlformats.org/drawingml/2006/table">
            <a:tbl>
              <a:tblPr/>
              <a:tblGrid>
                <a:gridCol w="640080"/>
                <a:gridCol w="5394960"/>
                <a:gridCol w="1097280"/>
                <a:gridCol w="3657600"/>
              </a:tblGrid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#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Gap </a:t>
                      </a:r>
                      <a:r>
                        <a:rPr b="1" lang="th-TH" sz="120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ที่ต้องเน้นทดสอบ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Process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h-TH" sz="120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ทำไมถึง </a:t>
                      </a: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Critical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C1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Do-not-contact list (import + exclude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ตอนส่ง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01 / 02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Compliance —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ส่งผิดคนมีผลทางกฎหมาย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C2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Exclude Consent = No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ตอนสร้าง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Segment /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ส่ง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PDPA —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ยินยอมก่อนสื่อสาร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C3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Maker/Checker workflow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อนุมัติส่ง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Campaign (02-7)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Governance —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มีแค่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'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สถานะ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'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ยังไม่มี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task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จริง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C4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Manual Assign Lead (03-09)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Business continuity —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กรณี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auto assign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ไม่ได้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c62828"/>
                          </a:solidFill>
                          <a:latin typeface="Tahoma"/>
                          <a:ea typeface="Tahoma"/>
                        </a:rPr>
                        <a:t>C5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ระงับ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LC x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วัน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(5/10/15/20/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ถาวร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) (03-12.3)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Business rule —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ยังไม่พบ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config/task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6" name="Shape 5"/>
          <p:cNvSpPr/>
          <p:nvPr/>
        </p:nvSpPr>
        <p:spPr>
          <a:xfrm>
            <a:off x="685800" y="5166360"/>
            <a:ext cx="10789560" cy="776880"/>
          </a:xfrm>
          <a:prstGeom prst="rect">
            <a:avLst/>
          </a:prstGeom>
          <a:solidFill>
            <a:srgbClr val="fdec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6"/>
          <p:cNvSpPr/>
          <p:nvPr/>
        </p:nvSpPr>
        <p:spPr>
          <a:xfrm>
            <a:off x="685800" y="5166360"/>
            <a:ext cx="72720" cy="776880"/>
          </a:xfrm>
          <a:prstGeom prst="rect">
            <a:avLst/>
          </a:prstGeom>
          <a:solidFill>
            <a:srgbClr val="c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896040" y="516636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ทดสอบเน้น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: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ทั้งกรณีปกติ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+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กรณีขอบ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(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บล็อกได้จริงไหม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, exclude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ครบไหม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,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อนุมัติ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2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ชั้นบังคับไหม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,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ระงับแล้วรับ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Lead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ไม่ได้จริงไหม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) →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มอบให้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QA1 (Senior)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411480" y="320040"/>
            <a:ext cx="11383920" cy="594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685800" y="41148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f57c00"/>
                </a:solidFill>
                <a:latin typeface="Tahoma"/>
                <a:ea typeface="Tahoma"/>
              </a:rPr>
              <a:t>🟠 </a:t>
            </a:r>
            <a:r>
              <a:rPr b="1" lang="en-US" sz="1100" spc="199" strike="noStrike">
                <a:solidFill>
                  <a:srgbClr val="f57c00"/>
                </a:solidFill>
                <a:latin typeface="Tahoma"/>
                <a:ea typeface="Tahoma"/>
              </a:rPr>
              <a:t>MAJOR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685800" y="713160"/>
            <a:ext cx="502560" cy="456840"/>
          </a:xfrm>
          <a:prstGeom prst="rect">
            <a:avLst/>
          </a:prstGeom>
          <a:solidFill>
            <a:srgbClr val="0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Tahoma"/>
                <a:ea typeface="Tahoma"/>
              </a:rPr>
              <a:t>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1325880" y="7131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กลุ่ม 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Major — 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เทสต์เต็ม 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+ 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ยืนยัน 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scope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3" name="Table 0"/>
          <p:cNvGraphicFramePr/>
          <p:nvPr/>
        </p:nvGraphicFramePr>
        <p:xfrm>
          <a:off x="685800" y="1417320"/>
          <a:ext cx="10789560" cy="3876840"/>
        </p:xfrm>
        <a:graphic>
          <a:graphicData uri="http://schemas.openxmlformats.org/drawingml/2006/table">
            <a:tbl>
              <a:tblPr/>
              <a:tblGrid>
                <a:gridCol w="640080"/>
                <a:gridCol w="5486400"/>
                <a:gridCol w="1005840"/>
                <a:gridCol w="3657600"/>
              </a:tblGrid>
              <a:tr h="484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#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Gap </a:t>
                      </a:r>
                      <a:r>
                        <a:rPr b="1" lang="th-TH" sz="120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ที่ต้องเน้นทดสอบ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</a:rPr>
                        <a:t>Process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th-TH" sz="1200" spc="-1" strike="noStrike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ประเด็น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solidFill>
                      <a:srgbClr val="0b2a4a"/>
                    </a:solidFill>
                  </a:tcPr>
                </a:tc>
              </a:tr>
              <a:tr h="484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57c00"/>
                          </a:solidFill>
                          <a:latin typeface="Tahoma"/>
                          <a:ea typeface="Tahoma"/>
                        </a:rPr>
                        <a:t>M1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Open tracking (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การเปิดอ่าน โดยเฉพาะ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Email)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WBS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มีแค่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Click tracking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57c00"/>
                          </a:solidFill>
                          <a:latin typeface="Tahoma"/>
                          <a:ea typeface="Tahoma"/>
                        </a:rPr>
                        <a:t>M2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Campaign Monthly Summary Report (Automail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วันที่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1 13:00)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ไม่พบ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task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57c00"/>
                          </a:solidFill>
                          <a:latin typeface="Tahoma"/>
                          <a:ea typeface="Tahoma"/>
                        </a:rPr>
                        <a:t>M3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Lead Daily Report Automail 09:00 + Export CSV/Excel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มีแค่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SLA email 09:00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57c00"/>
                          </a:solidFill>
                          <a:latin typeface="Tahoma"/>
                          <a:ea typeface="Tahoma"/>
                        </a:rPr>
                        <a:t>M4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Lead Import Excel/CSV (CRM Event 03-05.4)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ไม่พบ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task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รองรับ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import file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57c00"/>
                          </a:solidFill>
                          <a:latin typeface="Tahoma"/>
                          <a:ea typeface="Tahoma"/>
                        </a:rPr>
                        <a:t>M5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Message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เป็น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object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แยก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(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สร้าง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/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แก้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/Clone/Active)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WBS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รวมไว้ใน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Campaign builder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57c00"/>
                          </a:solidFill>
                          <a:latin typeface="Tahoma"/>
                          <a:ea typeface="Tahoma"/>
                        </a:rPr>
                        <a:t>M6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Preview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ข้อความก่อนส่ง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(02-6)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ไม่พบ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57c00"/>
                          </a:solidFill>
                          <a:latin typeface="Tahoma"/>
                          <a:ea typeface="Tahoma"/>
                        </a:rPr>
                        <a:t>M7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กฎติดต่อ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3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ครั้ง → ปิดเคส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(03-13)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03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ไม่พบ </a:t>
                      </a:r>
                      <a:r>
                        <a:rPr b="0" lang="en-US" sz="1200" spc="-1" strike="noStrike">
                          <a:solidFill>
                            <a:srgbClr val="1a2330"/>
                          </a:solidFill>
                          <a:latin typeface="Tahoma"/>
                          <a:ea typeface="Tahoma"/>
                        </a:rPr>
                        <a:t>logic </a:t>
                      </a:r>
                      <a:r>
                        <a:rPr b="0" lang="th-TH" sz="1200" spc="-1" strike="noStrike">
                          <a:solidFill>
                            <a:srgbClr val="1a2330"/>
                          </a:solidFill>
                          <a:latin typeface="Tahoma"/>
                          <a:cs typeface="Tahoma"/>
                        </a:rPr>
                        <a:t>ชัด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6480">
                      <a:solidFill>
                        <a:srgbClr val="d8e0e8"/>
                      </a:solidFill>
                    </a:lnL>
                    <a:lnR w="6480">
                      <a:solidFill>
                        <a:srgbClr val="d8e0e8"/>
                      </a:solidFill>
                    </a:lnR>
                    <a:lnT w="6480">
                      <a:solidFill>
                        <a:srgbClr val="d8e0e8"/>
                      </a:solidFill>
                    </a:lnT>
                    <a:lnB w="6480">
                      <a:solidFill>
                        <a:srgbClr val="d8e0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4" name="Shape 4"/>
          <p:cNvSpPr/>
          <p:nvPr/>
        </p:nvSpPr>
        <p:spPr>
          <a:xfrm>
            <a:off x="685800" y="5166720"/>
            <a:ext cx="10789560" cy="776880"/>
          </a:xfrm>
          <a:prstGeom prst="rect">
            <a:avLst/>
          </a:prstGeom>
          <a:solidFill>
            <a:srgbClr val="fff8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685800" y="5029200"/>
            <a:ext cx="72720" cy="776880"/>
          </a:xfrm>
          <a:prstGeom prst="rect">
            <a:avLst/>
          </a:prstGeom>
          <a:solidFill>
            <a:srgbClr val="f57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896040" y="502920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เทสต์เพื่อยืนยัน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: feature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เหล่านี้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'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มีจริงในระบบไหม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'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ก่อน แล้วจึงตรวจความถูกต้อง — ถ้าทีม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dev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ตอบว่าไม่ทำ ต้องเป็น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decision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ที่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record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ไว้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411480" y="320040"/>
            <a:ext cx="11383920" cy="594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685800" y="41148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c62828"/>
                </a:solidFill>
                <a:latin typeface="Tahoma"/>
                <a:ea typeface="Tahoma"/>
              </a:rPr>
              <a:t>TEST FOCUS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685800" y="713160"/>
            <a:ext cx="502560" cy="456840"/>
          </a:xfrm>
          <a:prstGeom prst="rect">
            <a:avLst/>
          </a:prstGeom>
          <a:solidFill>
            <a:srgbClr val="0b2a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Tahoma"/>
                <a:ea typeface="Tahoma"/>
              </a:rPr>
              <a:t>6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3"/>
          <p:cNvSpPr/>
          <p:nvPr/>
        </p:nvSpPr>
        <p:spPr>
          <a:xfrm>
            <a:off x="1325880" y="7131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สรุป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: 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เน้นทดสอบตรงไหน </a:t>
            </a:r>
            <a:r>
              <a:rPr b="1" lang="en-US" sz="2500" spc="-1" strike="noStrike">
                <a:solidFill>
                  <a:srgbClr val="0b2a4a"/>
                </a:solidFill>
                <a:latin typeface="Tahoma"/>
                <a:ea typeface="Tahoma"/>
              </a:rPr>
              <a:t>&amp; </a:t>
            </a:r>
            <a:r>
              <a:rPr b="1" lang="th-TH" sz="2500" spc="-1" strike="noStrike">
                <a:solidFill>
                  <a:srgbClr val="0b2a4a"/>
                </a:solidFill>
                <a:latin typeface="Tahoma"/>
                <a:cs typeface="Tahoma"/>
              </a:rPr>
              <a:t>ใครรับ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777240" y="1463040"/>
            <a:ext cx="106066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a2330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🔴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Critical 5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จุด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=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งาน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QA1 (Senior) →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ทดสอบเชิงลึก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+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ยืนยัน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requirement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ก่อน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Dev lock scope (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เพิ่ม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~5–8 MD)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a2330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🟠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Major 7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จุด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=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เทสต์เต็มรูปแบบ แต่เริ่มด้วยการ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confirm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ว่า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'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มี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/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ไม่มี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'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ในระบบ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a2330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Process 02 (Campaign)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มี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gap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หนาสุด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(6/12) —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เป็นจุดที่ต้องลงแรงทดสอบมากที่สุด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a2330"/>
              </a:buClr>
              <a:buFont typeface="Symbol" charset="2"/>
              <a:buChar char=""/>
            </a:pP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จับคู่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chain: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ต้นน้ำ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(Segment/Consent/Do-not-contact) →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ปลายน้ำ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(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ส่งจริง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/Tracking/Report)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ให้ทดสอบต่อเนื่อง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a2330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🟡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Minor 7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จุด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= spot-check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เชิงยืนยัน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(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เวลา 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automail, popup validation, limit, ≤7 </a:t>
            </a:r>
            <a:r>
              <a:rPr b="0" lang="th-TH" sz="1500" spc="-1" strike="noStrike">
                <a:solidFill>
                  <a:srgbClr val="1a2330"/>
                </a:solidFill>
                <a:latin typeface="Tahoma"/>
                <a:cs typeface="Tahoma"/>
              </a:rPr>
              <a:t>วัน ฯลฯ</a:t>
            </a:r>
            <a:r>
              <a:rPr b="0" lang="en-US" sz="1500" spc="-1" strike="noStrike">
                <a:solidFill>
                  <a:srgbClr val="1a2330"/>
                </a:solidFill>
                <a:latin typeface="Tahoma"/>
                <a:ea typeface="Tahoma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5"/>
          <p:cNvSpPr/>
          <p:nvPr/>
        </p:nvSpPr>
        <p:spPr>
          <a:xfrm>
            <a:off x="685800" y="4617720"/>
            <a:ext cx="10789560" cy="639720"/>
          </a:xfrm>
          <a:prstGeom prst="rect">
            <a:avLst/>
          </a:prstGeom>
          <a:solidFill>
            <a:srgbClr val="e8f0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6"/>
          <p:cNvSpPr/>
          <p:nvPr/>
        </p:nvSpPr>
        <p:spPr>
          <a:xfrm>
            <a:off x="685800" y="4617720"/>
            <a:ext cx="72720" cy="63972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7"/>
          <p:cNvSpPr/>
          <p:nvPr/>
        </p:nvSpPr>
        <p:spPr>
          <a:xfrm>
            <a:off x="896040" y="46177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Deliverable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ที่รองรับ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: MCMP_Test_Design.md (180 TC) · export/ (Jira/TestRail/Xray) · MCMP_QA_Task_Assignment.md (QA1/QA2)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8"/>
          <p:cNvSpPr/>
          <p:nvPr/>
        </p:nvSpPr>
        <p:spPr>
          <a:xfrm>
            <a:off x="685800" y="5394960"/>
            <a:ext cx="10789560" cy="639720"/>
          </a:xfrm>
          <a:prstGeom prst="rect">
            <a:avLst/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9"/>
          <p:cNvSpPr/>
          <p:nvPr/>
        </p:nvSpPr>
        <p:spPr>
          <a:xfrm>
            <a:off x="685800" y="5394960"/>
            <a:ext cx="72720" cy="63972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0"/>
          <p:cNvSpPr/>
          <p:nvPr/>
        </p:nvSpPr>
        <p:spPr>
          <a:xfrm>
            <a:off x="896040" y="539496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Next step: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ประชุม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tick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ยืนยัน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12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จุด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Critical+Major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กับ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BA/SA/PM → lock scope + effort </a:t>
            </a:r>
            <a:r>
              <a:rPr b="0" lang="th-TH" sz="1300" spc="-1" strike="noStrike">
                <a:solidFill>
                  <a:srgbClr val="1a2330"/>
                </a:solidFill>
                <a:latin typeface="Tahoma"/>
                <a:cs typeface="Tahoma"/>
              </a:rPr>
              <a:t>ก่อนเริ่ม </a:t>
            </a:r>
            <a:r>
              <a:rPr b="0" lang="en-US" sz="1300" spc="-1" strike="noStrike">
                <a:solidFill>
                  <a:srgbClr val="1a2330"/>
                </a:solidFill>
                <a:latin typeface="Tahoma"/>
                <a:ea typeface="Tahoma"/>
              </a:rPr>
              <a:t>Dev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LibreOffice/7.4.6.2$Windows_X86_64 LibreOffice_project/5b1f5509c2decdade7fda905e3e1429a67acd63d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2026-07-01T08:38:01Z</dcterms:created>
  <dc:creator>MCMP QA</dc:creator>
  <dc:description/>
  <dc:language>en-US</dc:language>
  <cp:lastModifiedBy/>
  <dcterms:modified xsi:type="dcterms:W3CDTF">2026-07-01T15:41:33Z</dcterms:modified>
  <cp:revision>2</cp:revision>
  <dc:subject>PptxGenJS Presentation</dc:subject>
  <dc:title>MCMP — Business &amp; BRD↔WBS Test Focus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