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MCMP Pre-Dev Checkpoint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12191695" cy="1097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EC6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PROJECT 20240278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Marketing Campaign Management Platform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1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สรุปกระบวนการเพื่อคุย Checkpoint ก่อนเริ่มพัฒนา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CD4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Owner: ฝ่ายการตลาด — บมจ. ไทยสมุทรประกันชีวิต (Ocean Life Insurance)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CD4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เอกสารต้นทาง: BRD v0.1 (42 หน้า) · WBS / Development Effort v1.0 (5 หน้า) · GrowthAi Slides (74 หน้า)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ระบบนี้ทำอะไร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MCMP คือ แพลตฟอร์มกลางการตลาด ที่รวมข้อมูลลูกค้าจากหลายระบบ สร้างกลุ่มเป้าหมาย ส่งแคมเปญหลายช่องทาง และบริหาร Lead จนถึงตัวแทน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2377440"/>
            <a:ext cx="2011680" cy="1371600"/>
          </a:xfrm>
          <a:prstGeom prst="rect">
            <a:avLst>
              <a:gd name="adj" fmla="val 5333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①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รวมข้อมูล → Single 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43784" y="2377440"/>
            <a:ext cx="2011680" cy="1371600"/>
          </a:xfrm>
          <a:prstGeom prst="rect">
            <a:avLst>
              <a:gd name="adj" fmla="val 5333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43784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②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935224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Segment (RFM/CLV/Health)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01768" y="2377440"/>
            <a:ext cx="2011680" cy="1371600"/>
          </a:xfrm>
          <a:prstGeom prst="rect">
            <a:avLst>
              <a:gd name="adj" fmla="val 5333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③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093208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 Campaign (SMS/Email/LINE/App)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59752" y="2377440"/>
            <a:ext cx="2011680" cy="1371600"/>
          </a:xfrm>
          <a:prstGeom prst="rect">
            <a:avLst>
              <a:gd name="adj" fmla="val 5333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9752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④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51192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Sync FB / Google Ads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17736" y="2377440"/>
            <a:ext cx="2011680" cy="1371600"/>
          </a:xfrm>
          <a:prstGeom prst="rect">
            <a:avLst>
              <a:gd name="adj" fmla="val 5333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17736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⑤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409176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บริหาร Lead → LC (SLA 24 ชม.)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4206240"/>
            <a:ext cx="10789920" cy="640080"/>
          </a:xfrm>
          <a:prstGeom prst="rect">
            <a:avLst/>
          </a:prstGeom>
          <a:solidFill>
            <a:srgbClr val="E8F0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4206240"/>
            <a:ext cx="73152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206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กระบวนการหลัก:  01 Data Ingestion  ·  02 Campaign Setting &amp; Send  ·  03 Lead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 &amp; ระบบที่เกี่ยวข้อง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10789920" cy="2331720"/>
          </a:xfrm>
          <a:prstGeom prst="rect">
            <a:avLst>
              <a:gd name="adj" fmla="val 2353"/>
            </a:avLst>
          </a:prstGeom>
          <a:solidFill>
            <a:srgbClr val="0B2A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63040"/>
            <a:ext cx="10424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ต้นทาง ]            [ Data Platform ]              [ MCMP ]            [ ปลายทาง 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CIS/OLI ─┐                                                              ┌─ ลูกค้า (SMS/Email/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AS400    │   DW → S3 → AWS Glue/Athena     01 Ingestion                 │   LINE/Ocean Club)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LineOA   ├ Upd/Ins ─► (lakecurated) ──► 02 Campaign ────────────────────┤─ FB / Google Ads (ESB)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GA4      │   → QuickSight (RFM/Dashboard)  03 Lead                       │─ LC Connect (ตัวแทน)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OSSS·NBS │                                                              └─ Digital Sale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Web·HR ──┘   Vendor: GrowthAi · Infobip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886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CIS · AS/400 · LineOA · OSSS · NBS · GA4 · HR    </a:t>
            </a:r>
            <a:pPr indent="0" marL="0">
              <a:buNone/>
            </a:pPr>
            <a:r>
              <a:rPr lang="en-US" sz="130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DW · S3 · Glue/Athena · QuickSight    </a:t>
            </a:r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GrowthAi · Infobip (Vendor)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4526280"/>
            <a:ext cx="10789920" cy="6400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4526280"/>
            <a:ext cx="73152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526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Single Source of Truth: เจอข้อมูลซ้ำหลายแหล่ง → ยึด เบอร์/อีเมลจาก CIS เป็นหลัก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PROCESS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Ingestion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ดึง/อัปเดต (Update-Insert ไม่ซ้ำ) เข้าระบบกลาง · Daily 23:00 และ Realtime · ตรวจ error → Automail แจ้งผล 08:00 / ไม่พบไฟล์ 09:00 · มี Maker/Checker อนุมัติการ Upload Campaign/Activity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48840"/>
          <a:ext cx="10789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54480"/>
                <a:gridCol w="1280160"/>
                <a:gridCol w="2194560"/>
                <a:gridCol w="155448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แหล่ง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ต้นทาง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ความถี่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แหล่ง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ต้นทาง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ความถี่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Customer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CIS/OLI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Daily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UTM Behavior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GA4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ตามกำหนด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Policy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AS/400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Daily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Agent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OSSS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Daily/RT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LINE Ocean Connect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LineOA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Daily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RFM Model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S3/Actuary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Manual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Campaign &amp; Activity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Upload UI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Weekly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Lead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Web Corp.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Realtime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Contact Center / FB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NBS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Realtime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Staff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HR (+SHA-256)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Manual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Ocean Club App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GrowthAi (Path)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Daily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PROCESS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Campaign Setting &amp; Send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วิเคราะห์ + Dashboard/Segment บน QuickSight → ดึง Customer+RFM เข้า MCMP (Manual)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Segment — Filter AND/OR, Active/Inactive, Clone, Export, exclude Consent=No &amp; Do-not-contact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Manual Sync Audience → FB / Google Ads (Customer Match)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Campaign — เลือก Segment, ช่องทาง, ตั้งเวลา 3 แบบ, Tag, Retarget, แสดง Sent/Open/Click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Message แยกช่องทาง — Personalization, Shorten Link (Infobip), Preview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Maker/Checker อนุมัติส่ง → ระบบส่งตามเวลา (ยึด CIS) → ลูกค้าได้รับ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เก็บผล Open/Click/Unique → Automail Monthly Summary (วันที่ 1 เดือนถัดไป 13:00)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PROCESS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Lead Management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Import LC จาก OSSS (≤10 รายชื่อ/จังหวัด, ≤10 จังหวัด/ครั้ง, อัปเดตอัตโนมัติ)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 Lead: Website (auto) · Facebook (manual) · Contact Center (VPN/VDI ถ้า WFH) · CRM Event (Import Excel/CSV) — ตรวจซ้ำ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ซื้อ Online → Digital Sale (Google Sheet + Email) / ผ่านตัวแทน → เกณฑ์ Assign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 Assign: จังหวัดตรง → ผลงานทุกงวด → ผลงานบางงวด → Round Robin + Lead Scoring (มีเวลานัด=Hot / ไม่มี=Warm)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Manual Assign เมื่อระบบเลือกไม่ได้ → แจ้ง New Lead ผ่าน LC Connect → LC ติดต่อ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SLA 24 ชม. เกิน → ดึงคืน Re-assign + ระงับ LC (5/10/15/20 วัน/ถาวร) + Email การตลาด 09:00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บันทึกผล (สูงสุด 3 ครั้ง → ปิดเคส; ปิดไม่ได้เก็บ 3 เดือน → ลบ) → Daily Report 09:00 + Export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BUSINESS RULES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Business Rules ที่ต้องตอกย้ำ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789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949440"/>
                <a:gridCol w="2926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#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Rule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กระทบ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BR-1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ยึดเบอร์/อีเมลจาก CIS เป็นหลักเมื่อข้อมูลซ้ำ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Dedup ทุก channel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BR-2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Exclude Consent=No + Do-not-contact ก่อนส่ง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PDPA / Compliance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BR-3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Maker/Checker ทั้ง import (01-0-4) และส่ง campaign (02-7)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Governance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BR-4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SLA Lead 24 ชม. เกิน → ดึงคืน + ระงับ LC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ผลงานตัวแทน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BR-5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Lead Scoring Hot (มีเวลานัด) / Warm (ไม่มี)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คิว Assign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BR-6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Data Retention Lead ปิดไม่ได้ 3 เดือน → ลบ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Storage / PDPA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BR-7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Segmentation: RFM(11) · CLV(6) · Customer Segment(6) · Age · Health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Data model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⭐ KEY FINDING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GrowthAi เปลี่ยนภาพ Campaign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GrowthAi คือ </a:t>
            </a:r>
            <a:pPr indent="0" marL="0">
              <a:buNone/>
            </a:pPr>
            <a:r>
              <a:rPr lang="en-US" sz="1600" b="1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 marketing-automation จริง</a:t>
            </a:r>
            <a:pPr indent="0" marL="0">
              <a:buNone/>
            </a:pPr>
            <a:r>
              <a:rPr lang="en-US" sz="16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— Campaign </a:t>
            </a:r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ไม่ใช่ </a:t>
            </a:r>
            <a:pPr indent="0" marL="0">
              <a:buNone/>
            </a:pPr>
            <a:r>
              <a:rPr lang="en-US" sz="16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"สร้าง + เลือกช่องทาง" แต่เป็น </a:t>
            </a:r>
            <a:pPr indent="0" marL="0">
              <a:buNone/>
            </a:pPr>
            <a:r>
              <a:rPr lang="en-US" sz="1600" b="1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Visual Flow Builder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10789920" cy="1691640"/>
          </a:xfrm>
          <a:prstGeom prst="rect">
            <a:avLst>
              <a:gd name="adj" fmla="val 3243"/>
            </a:avLst>
          </a:prstGeom>
          <a:solidFill>
            <a:srgbClr val="0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03120"/>
            <a:ext cx="10424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[Segment / Contact source] → [Decision] → [Condition (ตาม tag)] → [Action]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yes/no       branch              ├─ Send email (drag-drop builder)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    ├─ Send text message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    ├─ Mobile app push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    ├─ Send webhook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    └─ per-step delay / schedule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886200"/>
            <a:ext cx="10789920" cy="6400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3886200"/>
            <a:ext cx="73152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86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Tracking ตายตัวต่อ campaign: Total User · Total Send · Total Credit · Total Fail · Total Click · Unique Click (+ drill-down รายคน)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709160"/>
            <a:ext cx="10789920" cy="64008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4709160"/>
            <a:ext cx="73152" cy="6400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709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ผลกระทบ: scope Campaign หนักกว่าที่ WBS ประเมิน (1.2.3 = 12 MD) เพราะมี combinatorial path ของ flow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🔴 MUST CLOSE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Gap ระดับ High ที่ต้องปิดก่อน Dev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อยู่ใน BRD แต่ไม่พบใน WBS v1.0 — ต้องยืนยันว่าใครทำ + เพิ่ม effort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789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766560"/>
                <a:gridCol w="3291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#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Gap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เหตุผล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Do-not-contact list (import + exclude ตอนส่ง)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Compliance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Exclude Consent=No ตอนสร้าง Segment / ส่ง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PDPA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Maker/Checker workflow อนุมัติส่ง Campaign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มีแค่สถานะ ยังไม่มี task จริง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Manual Assign Lead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กรณี auto assign ไม่ได้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ระงับ LC x วัน (5/10/15/20/ถาวร)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ยังไม่พบ config/task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4297680"/>
            <a:ext cx="10789920" cy="64008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4297680"/>
            <a:ext cx="73152" cy="6400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297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ทั้ง 5 เป็น core business rule/compliance → ควรเป็นงาน QA1 (Senior) + ขอ effort เพิ่ม ~5–8 MD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50749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Medium: Open tracking (email) · Campaign Monthly Report · Lead Daily Report · Lead Import Excel/CSV · Message object แยก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❓ CLARIFY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คำถามต้องตอบก่อน Finalize Scope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GrowthAi เป็น COTS/SaaS หรือ custom build? </a:t>
            </a:r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กระทบกลยุทธ์ (config vs functional) + effort (+4 MD ถ้า config / +6–8 MD ถ้า custom)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Decision vs Condition node ต่างกันเชิง business อย่างไร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Send webhook ยิงไประบบไหน (MCMP internal / LC Connect / UW?) — ยังไม่อยู่ใน BRD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Total Credit / Total Fail สูตรตรงกับ Infobip billing หรือไม่ (reconciliation)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Channel-presence filter ("เป็น Ocean Connect แล้ว/ยัง") field มาจาก source ใด refresh บ่อยแค่ไหน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 LINE Ocean Connect หายจาก GrowthAi actions (email/text/app/webhook) — LINE ส่งผ่าน action ใด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EFFORT (WBS V1.0)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ขอบเขต Effort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2560320" cy="1097280"/>
          </a:xfrm>
          <a:prstGeom prst="rect">
            <a:avLst>
              <a:gd name="adj" fmla="val 6667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451.70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1214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Total MD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463040"/>
            <a:ext cx="2560320" cy="1097280"/>
          </a:xfrm>
          <a:prstGeom prst="rect">
            <a:avLst>
              <a:gd name="adj" fmla="val 6667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313.45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29000" y="21214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Marketing Campaign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463040"/>
            <a:ext cx="2560320" cy="1097280"/>
          </a:xfrm>
          <a:prstGeom prst="rect">
            <a:avLst>
              <a:gd name="adj" fmla="val 6667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127.75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72200" y="21214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Lead Management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15400" y="1463040"/>
            <a:ext cx="2560320" cy="1097280"/>
          </a:xfrm>
          <a:prstGeom prst="rect">
            <a:avLst>
              <a:gd name="adj" fmla="val 6667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1540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10.50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915400" y="21214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อื่นๆ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2743200"/>
            <a:ext cx="2560320" cy="1005840"/>
          </a:xfrm>
          <a:prstGeom prst="rect">
            <a:avLst>
              <a:gd name="adj" fmla="val 7273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834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 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580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Business Analyst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2743200"/>
            <a:ext cx="2560320" cy="1005840"/>
          </a:xfrm>
          <a:prstGeom prst="rect">
            <a:avLst>
              <a:gd name="adj" fmla="val 7273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834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 140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42900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Analyst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743200"/>
            <a:ext cx="2560320" cy="1005840"/>
          </a:xfrm>
          <a:prstGeom prst="rect">
            <a:avLst>
              <a:gd name="adj" fmla="val 7273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2834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Dev 211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17220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15400" y="2743200"/>
            <a:ext cx="2560320" cy="1005840"/>
          </a:xfrm>
          <a:prstGeom prst="rect">
            <a:avLst>
              <a:gd name="adj" fmla="val 7273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15400" y="2834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QA 98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91540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Quality Assurance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800" y="3977640"/>
            <a:ext cx="10789920" cy="640080"/>
          </a:xfrm>
          <a:prstGeom prst="rect">
            <a:avLst/>
          </a:prstGeom>
          <a:solidFill>
            <a:srgbClr val="E8F0FB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" y="3977640"/>
            <a:ext cx="73152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3977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QA (เลขทางการ): baseline 98.0 + GrowthAi +4.0 = ≈102.0 MD — QA1 Senior (core + GrowthAi) · QA2 Junior (ingestion + UI) · 8 paired chains  [รายการแตกละเอียด = 103.0, ±1 MD slack]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" y="4800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WBS เพิ่มของดีนอก BRD: Hash SHA-256 · Penetration Test · Tag System ขั้นสูง · House Keeping · Monitoring · Impact EDW/IFRS17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Agenda ประชุม Checkpoint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10424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7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 ยืนยันภาพรวม 3 process + สถาปัตยกรรม — ตรงกับที่ทีม dev เข้าใจไหม</a:t>
            </a:r>
            <a:endParaRPr lang="en-US" sz="17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7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 ล็อก Business Rules — โดยเฉพาะ BR-2 PDPA และ BR-3 Maker/Checker</a:t>
            </a:r>
            <a:endParaRPr lang="en-US" sz="17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 ตัดสินใจเรื่อง GrowthAi (COTS หรือ custom?) — blocker ใหญ่สุดของการประเมิน scope</a:t>
            </a:r>
            <a:endParaRPr lang="en-US" sz="17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7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 ไล่ปิด 5 Gap High — ใครรับผิดชอบ + เพิ่ม MD เท่าไร</a:t>
            </a:r>
            <a:endParaRPr lang="en-US" sz="17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7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 สรุป effort ที่ revise แล้ว + ลำดับ sprint / priority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5120640"/>
            <a:ext cx="10789920" cy="6400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5120640"/>
            <a:ext cx="73152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120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เอกสารอ้างอิง: BRD_Summary_Workflow · MCMP_BRD_vs_WBS_Crosscheck · MCMP_GrowthAi_Gap_and_TestCases · MCMP_QA_Task_Assignment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MCMP — Pre-Dev Checkpoint</dc:title>
  <dc:subject>PptxGenJS Presentation</dc:subject>
  <dc:creator>MCMP</dc:creator>
  <cp:lastModifiedBy>MCMP</cp:lastModifiedBy>
  <cp:revision>1</cp:revision>
  <dcterms:created xsi:type="dcterms:W3CDTF">2026-07-01T07:42:51Z</dcterms:created>
  <dcterms:modified xsi:type="dcterms:W3CDTF">2026-07-01T07:42:51Z</dcterms:modified>
</cp:coreProperties>
</file>