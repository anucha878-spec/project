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C8BE1FC-8991-4130-B607-B1F154A9193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4699F1-1605-48B3-8FBD-A090F6A421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06631F-5290-4861-A9A6-88B790266FF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D71211-E782-4527-83F8-B56533BD893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56DB48-90A6-4975-B095-8A60F85DEE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57200" y="6446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Tahoma"/>
                <a:ea typeface="Tahoma"/>
              </a:rPr>
              <a:t>MCMP · Production 3 Lot · </a:t>
            </a:r>
            <a:r>
              <a:rPr b="0" lang="th-TH" sz="900" spc="-1" strike="noStrike">
                <a:solidFill>
                  <a:srgbClr val="5b6b7b"/>
                </a:solidFill>
                <a:latin typeface="Tahoma"/>
                <a:cs typeface="Tahoma"/>
              </a:rPr>
              <a:t>ผลกระทบต่อแผน </a:t>
            </a:r>
            <a:r>
              <a:rPr b="0" lang="en-US" sz="900" spc="-1" strike="noStrike">
                <a:solidFill>
                  <a:srgbClr val="5b6b7b"/>
                </a:solidFill>
                <a:latin typeface="Tahoma"/>
                <a:ea typeface="Tahoma"/>
              </a:rPr>
              <a:t>QA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6035040" y="6446520"/>
            <a:ext cx="5851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th-TH" sz="800" spc="-1" strike="noStrike">
                <a:solidFill>
                  <a:srgbClr val="5b6b7b"/>
                </a:solidFill>
                <a:latin typeface="Tahoma"/>
                <a:cs typeface="Tahoma"/>
              </a:rPr>
              <a:t>ที่มา</a:t>
            </a:r>
            <a:r>
              <a:rPr b="0" lang="en-US" sz="800" spc="-1" strike="noStrike">
                <a:solidFill>
                  <a:srgbClr val="5b6b7b"/>
                </a:solidFill>
                <a:latin typeface="Tahoma"/>
                <a:ea typeface="Tahoma"/>
              </a:rPr>
              <a:t>: WBS v1.0 (.xlsx export 2026-07-15) — Development Effort [Release] + Project Timeline_New22.06.69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0" y="4892040"/>
            <a:ext cx="1219140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822960" y="1417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80cbc4"/>
                </a:solidFill>
                <a:latin typeface="Tahoma"/>
                <a:ea typeface="Tahoma"/>
              </a:rPr>
              <a:t>PROJECT 20240278 · RELEASE PLAN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822960" y="18288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4200" spc="-1" strike="noStrike">
                <a:solidFill>
                  <a:srgbClr val="ffffff"/>
                </a:solidFill>
                <a:latin typeface="Tahoma"/>
                <a:cs typeface="Tahoma"/>
              </a:rPr>
              <a:t>แบ่งขึ้น </a:t>
            </a:r>
            <a:r>
              <a:rPr b="1" lang="en-US" sz="4200" spc="-1" strike="noStrike">
                <a:solidFill>
                  <a:srgbClr val="ffffff"/>
                </a:solidFill>
                <a:latin typeface="Tahoma"/>
                <a:ea typeface="Tahoma"/>
              </a:rPr>
              <a:t>Production 3 Lot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822960" y="31546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Segment (</a:t>
            </a:r>
            <a:r>
              <a:rPr b="1" lang="th-TH" sz="2200" spc="-1" strike="noStrike">
                <a:solidFill>
                  <a:srgbClr val="b2dfdb"/>
                </a:solidFill>
                <a:latin typeface="Tahoma"/>
                <a:cs typeface="Tahoma"/>
              </a:rPr>
              <a:t>ต</a:t>
            </a: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.</a:t>
            </a:r>
            <a:r>
              <a:rPr b="1" lang="th-TH" sz="2200" spc="-1" strike="noStrike">
                <a:solidFill>
                  <a:srgbClr val="b2dfdb"/>
                </a:solidFill>
                <a:latin typeface="Tahoma"/>
                <a:cs typeface="Tahoma"/>
              </a:rPr>
              <a:t>ค</a:t>
            </a: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. 2026)  →  Lead (</a:t>
            </a:r>
            <a:r>
              <a:rPr b="1" lang="th-TH" sz="2200" spc="-1" strike="noStrike">
                <a:solidFill>
                  <a:srgbClr val="b2dfdb"/>
                </a:solidFill>
                <a:latin typeface="Tahoma"/>
                <a:cs typeface="Tahoma"/>
              </a:rPr>
              <a:t>ธ</a:t>
            </a: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.</a:t>
            </a:r>
            <a:r>
              <a:rPr b="1" lang="th-TH" sz="2200" spc="-1" strike="noStrike">
                <a:solidFill>
                  <a:srgbClr val="b2dfdb"/>
                </a:solidFill>
                <a:latin typeface="Tahoma"/>
                <a:cs typeface="Tahoma"/>
              </a:rPr>
              <a:t>ค</a:t>
            </a: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. 2026)  →  Campaign (</a:t>
            </a:r>
            <a:r>
              <a:rPr b="1" lang="th-TH" sz="2200" spc="-1" strike="noStrike">
                <a:solidFill>
                  <a:srgbClr val="b2dfdb"/>
                </a:solidFill>
                <a:latin typeface="Tahoma"/>
                <a:cs typeface="Tahoma"/>
              </a:rPr>
              <a:t>พ</a:t>
            </a: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.</a:t>
            </a:r>
            <a:r>
              <a:rPr b="1" lang="th-TH" sz="2200" spc="-1" strike="noStrike">
                <a:solidFill>
                  <a:srgbClr val="b2dfdb"/>
                </a:solidFill>
                <a:latin typeface="Tahoma"/>
                <a:cs typeface="Tahoma"/>
              </a:rPr>
              <a:t>ค</a:t>
            </a:r>
            <a:r>
              <a:rPr b="1" lang="en-US" sz="2200" spc="-1" strike="noStrike">
                <a:solidFill>
                  <a:srgbClr val="b2dfdb"/>
                </a:solidFill>
                <a:latin typeface="Tahoma"/>
                <a:ea typeface="Tahoma"/>
              </a:rPr>
              <a:t>. 2027)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822960" y="39776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fe1f2"/>
                </a:solidFill>
                <a:latin typeface="Tahoma"/>
                <a:ea typeface="Tahoma"/>
              </a:rPr>
              <a:t>Marketing Campaign Management Platform — </a:t>
            </a:r>
            <a:r>
              <a:rPr b="0" lang="th-TH" sz="1500" spc="-1" strike="noStrike">
                <a:solidFill>
                  <a:srgbClr val="cfe1f2"/>
                </a:solidFill>
                <a:latin typeface="Tahoma"/>
                <a:cs typeface="Tahoma"/>
              </a:rPr>
              <a:t>บมจ</a:t>
            </a:r>
            <a:r>
              <a:rPr b="0" lang="en-US" sz="1500" spc="-1" strike="noStrike">
                <a:solidFill>
                  <a:srgbClr val="cfe1f2"/>
                </a:solidFill>
                <a:latin typeface="Tahoma"/>
                <a:ea typeface="Tahoma"/>
              </a:rPr>
              <a:t>. </a:t>
            </a:r>
            <a:r>
              <a:rPr b="0" lang="th-TH" sz="1500" spc="-1" strike="noStrike">
                <a:solidFill>
                  <a:srgbClr val="cfe1f2"/>
                </a:solidFill>
                <a:latin typeface="Tahoma"/>
                <a:cs typeface="Tahoma"/>
              </a:rPr>
              <a:t>ไทยสมุทรประกันชีวิต </a:t>
            </a:r>
            <a:r>
              <a:rPr b="0" lang="en-US" sz="1500" spc="-1" strike="noStrike">
                <a:solidFill>
                  <a:srgbClr val="cfe1f2"/>
                </a:solidFill>
                <a:latin typeface="Tahoma"/>
                <a:ea typeface="Tahoma"/>
              </a:rPr>
              <a:t>(Ocean Life Insurance)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822960" y="52120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ที่มา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: WBS v1.0 (.xlsx export 2026-07-15) — </a:t>
            </a: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แท็บ 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Development Effort [</a:t>
            </a: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คอลัมน์ 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Release] + Project Timeline_New22.06.69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แผนใหม่ 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328 MD (</a:t>
            </a: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เดิม 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452.2 MD / 2 Lot)  ·  QA 98 MD  ·  180 Test Cases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0897b"/>
                </a:solidFill>
                <a:latin typeface="Tahoma"/>
                <a:ea typeface="Tahoma"/>
              </a:rPr>
              <a:t>ROADMAP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3 Lot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คืออะไร ขึ้นเมื่อไหร่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" name="Table 0"/>
          <p:cNvGraphicFramePr/>
          <p:nvPr/>
        </p:nvGraphicFramePr>
        <p:xfrm>
          <a:off x="685800" y="1417320"/>
          <a:ext cx="10789560" cy="2834280"/>
        </p:xfrm>
        <a:graphic>
          <a:graphicData uri="http://schemas.openxmlformats.org/drawingml/2006/table">
            <a:tbl>
              <a:tblPr/>
              <a:tblGrid>
                <a:gridCol w="914400"/>
                <a:gridCol w="5852160"/>
                <a:gridCol w="1554480"/>
                <a:gridCol w="1188720"/>
                <a:gridCol w="128016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ส่งมอบอะไร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Go Live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QA MD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Test Cases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Campaign Part 1 —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นำเข้า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Customer/Policy/GA4/RFM →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สร้าง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Segment → Sync FB/Google Ads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19 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27.0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2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Lead Management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ทั้งหมด — นำเข้า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Lead/Agent/Income, Auto Assign + SLA, LC Connect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1 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ธ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27.5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83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Campaign Part 2 —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นำเข้า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Line OA/FB Inbox/Ocean Club,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สร้าง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+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ส่ง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Campaign, Message, Tracking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6 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พ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2027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43.5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71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รวม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150" spc="-1" strike="noStrike">
                        <a:solidFill>
                          <a:srgbClr val="000000"/>
                        </a:solidFill>
                        <a:latin typeface="Tahoma"/>
                        <a:ea typeface="Tahoma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150" spc="-1" strike="noStrike">
                        <a:solidFill>
                          <a:srgbClr val="000000"/>
                        </a:solidFill>
                        <a:latin typeface="Tahoma"/>
                        <a:ea typeface="Tahoma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897b"/>
                          </a:solidFill>
                          <a:latin typeface="Tahoma"/>
                          <a:ea typeface="Tahoma"/>
                        </a:rPr>
                        <a:t>98.0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0897b"/>
                          </a:solidFill>
                          <a:latin typeface="Tahoma"/>
                          <a:ea typeface="Tahoma"/>
                        </a:rPr>
                        <a:t>180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Shape 4"/>
          <p:cNvSpPr/>
          <p:nvPr/>
        </p:nvSpPr>
        <p:spPr>
          <a:xfrm>
            <a:off x="685800" y="4114800"/>
            <a:ext cx="10789560" cy="868320"/>
          </a:xfrm>
          <a:prstGeom prst="rect">
            <a:avLst/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685800" y="4114800"/>
            <a:ext cx="72720" cy="868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896040" y="411480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🔑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ลำดับ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ไม่ตรงกับ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3 core process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ของ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BRD — BRD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เรียง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01 Ingestion → 02 Campaign → 03 Lead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แต่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เรียง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Segment → Lead → Campaign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งานนำเข้าข้อมูล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(1.1.x)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ถูกหั่นคร่อม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กับ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3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ตามว่า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source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ไหนป้อน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feature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ไหน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685800" y="5166360"/>
            <a:ext cx="10789560" cy="54828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685800" y="5166360"/>
            <a:ext cx="72720" cy="5482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896040" y="51663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✅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2 (Lead)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ไม่พึ่ง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เลย — งาน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2.x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อยู่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2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ก้อนเดียว ทดสอบขนานกับ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ได้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685800" y="585216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th-TH" sz="1200" spc="-1" strike="noStrike">
                <a:solidFill>
                  <a:srgbClr val="5b6b7b"/>
                </a:solidFill>
                <a:latin typeface="Tahoma"/>
                <a:cs typeface="Tahoma"/>
              </a:rPr>
              <a:t>เดิม</a:t>
            </a:r>
            <a:r>
              <a:rPr b="0" i="1" lang="en-US" sz="1200" spc="-1" strike="noStrike">
                <a:solidFill>
                  <a:srgbClr val="5b6b7b"/>
                </a:solidFill>
                <a:latin typeface="Tahoma"/>
                <a:ea typeface="Tahoma"/>
              </a:rPr>
              <a:t>: 2 Lot / 452.2 MD  →  </a:t>
            </a:r>
            <a:r>
              <a:rPr b="0" i="1" lang="th-TH" sz="1200" spc="-1" strike="noStrike">
                <a:solidFill>
                  <a:srgbClr val="5b6b7b"/>
                </a:solidFill>
                <a:latin typeface="Tahoma"/>
                <a:cs typeface="Tahoma"/>
              </a:rPr>
              <a:t>ใหม่</a:t>
            </a:r>
            <a:r>
              <a:rPr b="0" i="1" lang="en-US" sz="1200" spc="-1" strike="noStrike">
                <a:solidFill>
                  <a:srgbClr val="5b6b7b"/>
                </a:solidFill>
                <a:latin typeface="Tahoma"/>
                <a:ea typeface="Tahoma"/>
              </a:rPr>
              <a:t>: 3 Lot / 328 MD (Dev </a:t>
            </a:r>
            <a:r>
              <a:rPr b="0" i="1" lang="th-TH" sz="1200" spc="-1" strike="noStrike">
                <a:solidFill>
                  <a:srgbClr val="5b6b7b"/>
                </a:solidFill>
                <a:latin typeface="Tahoma"/>
                <a:cs typeface="Tahoma"/>
              </a:rPr>
              <a:t>ถูกตัด </a:t>
            </a:r>
            <a:r>
              <a:rPr b="0" i="1" lang="en-US" sz="1200" spc="-1" strike="noStrike">
                <a:solidFill>
                  <a:srgbClr val="5b6b7b"/>
                </a:solidFill>
                <a:latin typeface="Tahoma"/>
                <a:ea typeface="Tahoma"/>
              </a:rPr>
              <a:t>~88 MD, QA </a:t>
            </a:r>
            <a:r>
              <a:rPr b="0" i="1" lang="th-TH" sz="1200" spc="-1" strike="noStrike">
                <a:solidFill>
                  <a:srgbClr val="5b6b7b"/>
                </a:solidFill>
                <a:latin typeface="Tahoma"/>
                <a:cs typeface="Tahoma"/>
              </a:rPr>
              <a:t>แทบไม่ลด </a:t>
            </a:r>
            <a:r>
              <a:rPr b="0" i="1" lang="en-US" sz="1200" spc="-1" strike="noStrike">
                <a:solidFill>
                  <a:srgbClr val="5b6b7b"/>
                </a:solidFill>
                <a:latin typeface="Tahoma"/>
                <a:ea typeface="Tahoma"/>
              </a:rPr>
              <a:t>100 → 98)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1100" spc="199" strike="noStrike">
                <a:solidFill>
                  <a:srgbClr val="c62828"/>
                </a:solidFill>
                <a:latin typeface="Tahoma"/>
                <a:cs typeface="Tahoma"/>
              </a:rPr>
              <a:t>ข้อค้นพบสำคัญ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Lot 1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มี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Segment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แต่ “ส่ง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Campaign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ไม่ได้”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685800" y="137160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1500" spc="-1" strike="noStrike">
                <a:solidFill>
                  <a:srgbClr val="c62828"/>
                </a:solidFill>
                <a:latin typeface="Tahoma"/>
                <a:cs typeface="Tahoma"/>
              </a:rPr>
              <a:t>งานสร้าง</a:t>
            </a:r>
            <a:r>
              <a:rPr b="1" lang="en-US" sz="1500" spc="-1" strike="noStrike">
                <a:solidFill>
                  <a:srgbClr val="c62828"/>
                </a:solidFill>
                <a:latin typeface="Tahoma"/>
                <a:ea typeface="Tahoma"/>
              </a:rPr>
              <a:t>/</a:t>
            </a:r>
            <a:r>
              <a:rPr b="1" lang="th-TH" sz="1500" spc="-1" strike="noStrike">
                <a:solidFill>
                  <a:srgbClr val="c62828"/>
                </a:solidFill>
                <a:latin typeface="Tahoma"/>
                <a:cs typeface="Tahoma"/>
              </a:rPr>
              <a:t>ส่ง </a:t>
            </a:r>
            <a:r>
              <a:rPr b="1" lang="en-US" sz="1500" spc="-1" strike="noStrike">
                <a:solidFill>
                  <a:srgbClr val="c62828"/>
                </a:solidFill>
                <a:latin typeface="Tahoma"/>
                <a:ea typeface="Tahoma"/>
              </a:rPr>
              <a:t>Campaign (WBS 1.2.3–1.2.7) </a:t>
            </a:r>
            <a:r>
              <a:rPr b="1" lang="th-TH" sz="1500" spc="-1" strike="noStrike">
                <a:solidFill>
                  <a:srgbClr val="c62828"/>
                </a:solidFill>
                <a:latin typeface="Tahoma"/>
                <a:cs typeface="Tahoma"/>
              </a:rPr>
              <a:t>ถูกเลื่อนไป </a:t>
            </a:r>
            <a:r>
              <a:rPr b="1" lang="en-US" sz="1500" spc="-1" strike="noStrike">
                <a:solidFill>
                  <a:srgbClr val="c62828"/>
                </a:solidFill>
                <a:latin typeface="Tahoma"/>
                <a:ea typeface="Tahoma"/>
              </a:rPr>
              <a:t>Lot 3 </a:t>
            </a:r>
            <a:r>
              <a:rPr b="1" lang="th-TH" sz="1500" spc="-1" strike="noStrike">
                <a:solidFill>
                  <a:srgbClr val="c62828"/>
                </a:solidFill>
                <a:latin typeface="Tahoma"/>
                <a:cs typeface="Tahoma"/>
              </a:rPr>
              <a:t>ทั้งหมด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9" name="Table 0"/>
          <p:cNvGraphicFramePr/>
          <p:nvPr/>
        </p:nvGraphicFramePr>
        <p:xfrm>
          <a:off x="685800" y="1828800"/>
          <a:ext cx="10789560" cy="274320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1371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1 </a:t>
                      </a: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ทำได้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1 </a:t>
                      </a: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ทำไม่ได้ </a:t>
                      </a: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(</a:t>
                      </a: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ต้องรอ </a:t>
                      </a: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3)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1371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✅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นำเข้า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Customer (1.1.1), Policy (1.1.2), GA4 (1.1.6), RFM (1.1.7)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✅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ค้นหา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Segment (1.2.1)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✅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สร้าง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Segment +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เงื่อนไข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(1.2.2)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✅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Sync Audience → Facebook / Google Ads (1.2.8)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✅ 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Monitoring &amp; Support (1.1.10)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❌ </a:t>
                      </a:r>
                      <a:r>
                        <a:rPr b="0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สร้าง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Campaign (1.2.3)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❌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Tracking / Short Link (1.2.4)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❌ </a:t>
                      </a:r>
                      <a:r>
                        <a:rPr b="0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ส่ง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LINE (1.2.5) · SMS (1.2.6) · Ocean Club App (1.2.7)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❌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Auto-tag (1.2.2.2.1 — </a:t>
                      </a:r>
                      <a:r>
                        <a:rPr b="0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อยู่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Lot 3 </a:t>
                      </a:r>
                      <a:r>
                        <a:rPr b="0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แม้ตาราง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Tag </a:t>
                      </a:r>
                      <a:r>
                        <a:rPr b="0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จะทำใน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Lot 1)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❌ </a:t>
                      </a:r>
                      <a:r>
                        <a:rPr b="0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นำเข้า </a:t>
                      </a:r>
                      <a:r>
                        <a:rPr b="0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Line OA (1.1.3), FB Inbox (1.1.4), Ocean Club (1.1.5), Staff (1.1.9)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Shape 5"/>
          <p:cNvSpPr/>
          <p:nvPr/>
        </p:nvSpPr>
        <p:spPr>
          <a:xfrm>
            <a:off x="685800" y="3977640"/>
            <a:ext cx="10789560" cy="868320"/>
          </a:xfrm>
          <a:prstGeom prst="rect">
            <a:avLst/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685800" y="3977640"/>
            <a:ext cx="72720" cy="86832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96040" y="397764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ผลต่อการทดสอบ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: E2E “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สร้าง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Segment →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ส่งหาลูกค้า → วัดผล” จะทดสอบได้ครั้งแรกตอน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3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เท่านั้น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ต้อง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verify Segment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ด้วยวิธีอื่น — ตรวจ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audience count / export raw data /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ยืนยันปลายทางที่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Facebook–Google Ads Customer Match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685800" y="5029200"/>
            <a:ext cx="10789560" cy="594000"/>
          </a:xfrm>
          <a:prstGeom prst="rect">
            <a:avLst/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685800" y="5029200"/>
            <a:ext cx="72720" cy="594000"/>
          </a:xfrm>
          <a:prstGeom prst="rect">
            <a:avLst/>
          </a:prstGeom>
          <a:solidFill>
            <a:srgbClr val="f57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896040" y="502920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TC-04-15 (Filter channel-presence: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มี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Email /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ไม่มี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App /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ยังไม่เป็น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Ocean Connect)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ต้องใช้ข้อมูล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Line OA + Ocean Club App →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ย้ายจาก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ไป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3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แล้ว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685800" y="58064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th-TH" sz="1250" spc="-1" strike="noStrike">
                <a:solidFill>
                  <a:srgbClr val="0b2a4a"/>
                </a:solidFill>
                <a:latin typeface="Tahoma"/>
                <a:cs typeface="Tahoma"/>
              </a:rPr>
              <a:t>คำถามถึงทีม</a:t>
            </a:r>
            <a:r>
              <a:rPr b="1" i="1" lang="en-US" sz="1250" spc="-1" strike="noStrike">
                <a:solidFill>
                  <a:srgbClr val="0b2a4a"/>
                </a:solidFill>
                <a:latin typeface="Tahoma"/>
                <a:ea typeface="Tahoma"/>
              </a:rPr>
              <a:t>: business value </a:t>
            </a:r>
            <a:r>
              <a:rPr b="1" i="1" lang="th-TH" sz="1250" spc="-1" strike="noStrike">
                <a:solidFill>
                  <a:srgbClr val="0b2a4a"/>
                </a:solidFill>
                <a:latin typeface="Tahoma"/>
                <a:cs typeface="Tahoma"/>
              </a:rPr>
              <a:t>ของ </a:t>
            </a:r>
            <a:r>
              <a:rPr b="1" i="1" lang="en-US" sz="1250" spc="-1" strike="noStrike">
                <a:solidFill>
                  <a:srgbClr val="0b2a4a"/>
                </a:solidFill>
                <a:latin typeface="Tahoma"/>
                <a:ea typeface="Tahoma"/>
              </a:rPr>
              <a:t>Lot 1 </a:t>
            </a:r>
            <a:r>
              <a:rPr b="1" i="1" lang="th-TH" sz="1250" spc="-1" strike="noStrike">
                <a:solidFill>
                  <a:srgbClr val="0b2a4a"/>
                </a:solidFill>
                <a:latin typeface="Tahoma"/>
                <a:cs typeface="Tahoma"/>
              </a:rPr>
              <a:t>คือการ </a:t>
            </a:r>
            <a:r>
              <a:rPr b="1" i="1" lang="en-US" sz="1250" spc="-1" strike="noStrike">
                <a:solidFill>
                  <a:srgbClr val="0b2a4a"/>
                </a:solidFill>
                <a:latin typeface="Tahoma"/>
                <a:ea typeface="Tahoma"/>
              </a:rPr>
              <a:t>sync audience </a:t>
            </a:r>
            <a:r>
              <a:rPr b="1" i="1" lang="th-TH" sz="1250" spc="-1" strike="noStrike">
                <a:solidFill>
                  <a:srgbClr val="0b2a4a"/>
                </a:solidFill>
                <a:latin typeface="Tahoma"/>
                <a:cs typeface="Tahoma"/>
              </a:rPr>
              <a:t>ไป </a:t>
            </a:r>
            <a:r>
              <a:rPr b="1" i="1" lang="en-US" sz="1250" spc="-1" strike="noStrike">
                <a:solidFill>
                  <a:srgbClr val="0b2a4a"/>
                </a:solidFill>
                <a:latin typeface="Tahoma"/>
                <a:ea typeface="Tahoma"/>
              </a:rPr>
              <a:t>FB/Google Ads </a:t>
            </a:r>
            <a:r>
              <a:rPr b="1" i="1" lang="th-TH" sz="1250" spc="-1" strike="noStrike">
                <a:solidFill>
                  <a:srgbClr val="0b2a4a"/>
                </a:solidFill>
                <a:latin typeface="Tahoma"/>
                <a:cs typeface="Tahoma"/>
              </a:rPr>
              <a:t>เท่านั้น ใช่หรือไม่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0897b"/>
                </a:solidFill>
                <a:latin typeface="Tahoma"/>
                <a:ea typeface="Tahoma"/>
              </a:rPr>
              <a:t>TIMELINE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ช่วงเวลาทดสอบแต่ละ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Lot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" name="Table 0"/>
          <p:cNvGraphicFramePr/>
          <p:nvPr/>
        </p:nvGraphicFramePr>
        <p:xfrm>
          <a:off x="685800" y="1417320"/>
          <a:ext cx="1078956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3931920"/>
                <a:gridCol w="2011680"/>
                <a:gridCol w="393192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ช่วงที่ </a:t>
                      </a: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QA </a:t>
                      </a: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ถูกจองใน </a:t>
                      </a: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Sheet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Go Live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15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ช่องว่างก่อนขึ้นระบบ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1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w5 –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ย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w4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19 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e7d32"/>
                          </a:solidFill>
                          <a:latin typeface="Tahoma"/>
                          <a:ea typeface="Tahoma"/>
                        </a:rPr>
                        <a:t>~3 </a:t>
                      </a:r>
                      <a:r>
                        <a:rPr b="0" lang="th-TH" sz="1150" spc="-1" strike="noStrike">
                          <a:solidFill>
                            <a:srgbClr val="2e7d32"/>
                          </a:solidFill>
                          <a:latin typeface="Tahoma"/>
                          <a:cs typeface="Tahoma"/>
                        </a:rPr>
                        <a:t>สัปดาห์สำหรับ </a:t>
                      </a:r>
                      <a:r>
                        <a:rPr b="0" lang="en-US" sz="1150" spc="-1" strike="noStrike">
                          <a:solidFill>
                            <a:srgbClr val="2e7d32"/>
                          </a:solidFill>
                          <a:latin typeface="Tahoma"/>
                          <a:ea typeface="Tahoma"/>
                        </a:rPr>
                        <a:t>UAT — </a:t>
                      </a:r>
                      <a:r>
                        <a:rPr b="0" lang="th-TH" sz="1150" spc="-1" strike="noStrike">
                          <a:solidFill>
                            <a:srgbClr val="2e7d32"/>
                          </a:solidFill>
                          <a:latin typeface="Tahoma"/>
                          <a:cs typeface="Tahoma"/>
                        </a:rPr>
                        <a:t>สมเหตุสมผล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2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w4 –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w5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1 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ธ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e7d32"/>
                          </a:solidFill>
                          <a:latin typeface="Tahoma"/>
                          <a:ea typeface="Tahoma"/>
                        </a:rPr>
                        <a:t>~4 </a:t>
                      </a:r>
                      <a:r>
                        <a:rPr b="0" lang="th-TH" sz="1150" spc="-1" strike="noStrike">
                          <a:solidFill>
                            <a:srgbClr val="2e7d32"/>
                          </a:solidFill>
                          <a:latin typeface="Tahoma"/>
                          <a:cs typeface="Tahoma"/>
                        </a:rPr>
                        <a:t>สัปดาห์สำหรับ </a:t>
                      </a:r>
                      <a:r>
                        <a:rPr b="0" lang="en-US" sz="1150" spc="-1" strike="noStrike">
                          <a:solidFill>
                            <a:srgbClr val="2e7d32"/>
                          </a:solidFill>
                          <a:latin typeface="Tahoma"/>
                          <a:ea typeface="Tahoma"/>
                        </a:rPr>
                        <a:t>UAT — </a:t>
                      </a:r>
                      <a:r>
                        <a:rPr b="0" lang="th-TH" sz="1150" spc="-1" strike="noStrike">
                          <a:solidFill>
                            <a:srgbClr val="2e7d32"/>
                          </a:solidFill>
                          <a:latin typeface="Tahoma"/>
                          <a:cs typeface="Tahoma"/>
                        </a:rPr>
                        <a:t>สมเหตุสมผล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Lot 3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ย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w4 – 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ธ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0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0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w5 2026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6 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พ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</a:t>
                      </a:r>
                      <a:r>
                        <a:rPr b="1" lang="th-TH" sz="115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</a:t>
                      </a:r>
                      <a:r>
                        <a:rPr b="1" lang="en-US" sz="115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2027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ทิ้งช่วง </a:t>
                      </a:r>
                      <a:r>
                        <a:rPr b="1" lang="en-US" sz="115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~4 </a:t>
                      </a:r>
                      <a:r>
                        <a:rPr b="1" lang="th-TH" sz="1150" spc="-1" strike="noStrike">
                          <a:solidFill>
                            <a:srgbClr val="c62828"/>
                          </a:solidFill>
                          <a:latin typeface="Tahoma"/>
                          <a:cs typeface="Tahoma"/>
                        </a:rPr>
                        <a:t>เดือน — ผิดปกติ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Shape 4"/>
          <p:cNvSpPr/>
          <p:nvPr/>
        </p:nvSpPr>
        <p:spPr>
          <a:xfrm>
            <a:off x="685800" y="3429000"/>
            <a:ext cx="10789560" cy="1234080"/>
          </a:xfrm>
          <a:prstGeom prst="rect">
            <a:avLst/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685800" y="3429000"/>
            <a:ext cx="72720" cy="123408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96040" y="342900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🔴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3 test window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ไม่สมเหตุสมผล — ช่อง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week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ของ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QA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อยู่ ก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ย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.–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ธ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 2026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ทั้งหมด แต่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Go Live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คือ พ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 2027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หลักฐานว่าเป็นข้อมูลค้าง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: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ช่องแยกปีของ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Sheet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เองบอกว่า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3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มี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29.25 MD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อยู่ปี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2027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แต่ช่อง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week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กลับไม่มีอะไรอยู่ปี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2027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เลย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(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สองค่ารวมได้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34.5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เท่ากัน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น่าจะเกิดจากตอนทำเวอร์ชัน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_New22.06.69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มีการเลื่อน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week cells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มาซ้ายแล้วไม่ได้อัปเดตช่องแยกปี → ต้อง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confirm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กับ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PM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ก่อนจองคน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685800" y="4846320"/>
            <a:ext cx="10789560" cy="914040"/>
          </a:xfrm>
          <a:prstGeom prst="rect">
            <a:avLst/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685800" y="4846320"/>
            <a:ext cx="72720" cy="914040"/>
          </a:xfrm>
          <a:prstGeom prst="rect">
            <a:avLst/>
          </a:prstGeom>
          <a:solidFill>
            <a:srgbClr val="f57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896040" y="48463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⚠️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Lot 1: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ป้าย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UAT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ค้าง —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Sheet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เขียน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End of UAT 30/10/2569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แต่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Go Live 19/10/2569 (UAT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จบหลังขึ้นระบบ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11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วัน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ยืนยันแล้วว่า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Go Live 19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ต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ถูก ป้าย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UAT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ค้างจากเวอร์ชันก่อน →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UAT Lot 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ต้องจบก่อน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19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ต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ค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. 2026 (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ช่วงเทสต์สั้นลงจริง 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11 </a:t>
            </a:r>
            <a:r>
              <a:rPr b="0" lang="th-TH" sz="1250" spc="-1" strike="noStrike">
                <a:solidFill>
                  <a:srgbClr val="1a2330"/>
                </a:solidFill>
                <a:latin typeface="Tahoma"/>
                <a:cs typeface="Tahoma"/>
              </a:rPr>
              <a:t>วัน</a:t>
            </a:r>
            <a:r>
              <a:rPr b="0" lang="en-US" sz="1250" spc="-1" strike="noStrike">
                <a:solidFill>
                  <a:srgbClr val="1a2330"/>
                </a:solidFill>
                <a:latin typeface="Tahoma"/>
                <a:ea typeface="Tahoma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LibreOffice/7.4.6.2$Windows_X86_64 LibreOffice_project/5b1f5509c2decdade7fda905e3e1429a67acd63d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2026-07-15T05:39:29Z</dcterms:created>
  <dc:creator>MCMP QA</dc:creator>
  <dc:description/>
  <dc:language>en-US</dc:language>
  <cp:lastModifiedBy/>
  <dcterms:modified xsi:type="dcterms:W3CDTF">2026-07-15T12:47:49Z</dcterms:modified>
  <cp:revision>2</cp:revision>
  <dc:subject>PptxGenJS Presentation</dc:subject>
  <dc:title>MCMP — Production 3 Lot Roadmap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